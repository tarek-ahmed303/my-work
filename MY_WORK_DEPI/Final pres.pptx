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koto" charset="1" panose="00000000000000000000"/>
      <p:regular r:id="rId22"/>
    </p:embeddedFont>
    <p:embeddedFont>
      <p:font typeface="Leckerli One" charset="1" panose="02000503000000020003"/>
      <p:regular r:id="rId23"/>
    </p:embeddedFont>
    <p:embeddedFont>
      <p:font typeface="IBM Plex Serif Bold" charset="1" panose="02060803050406000203"/>
      <p:regular r:id="rId24"/>
    </p:embeddedFont>
    <p:embeddedFont>
      <p:font typeface="Roboto Bold" charset="1" panose="02000000000000000000"/>
      <p:regular r:id="rId25"/>
    </p:embeddedFont>
    <p:embeddedFont>
      <p:font typeface="Times New Roman Bold" charset="1" panose="02020803070505020304"/>
      <p:regular r:id="rId26"/>
    </p:embeddedFont>
    <p:embeddedFont>
      <p:font typeface="Times New Roman" charset="1" panose="02020603050405020304"/>
      <p:regular r:id="rId27"/>
    </p:embeddedFont>
    <p:embeddedFont>
      <p:font typeface="Poppins" charset="1" panose="00000500000000000000"/>
      <p:regular r:id="rId28"/>
    </p:embeddedFont>
    <p:embeddedFont>
      <p:font typeface="Times New Roman MT Bold" charset="1" panose="02030802070405020303"/>
      <p:regular r:id="rId29"/>
    </p:embeddedFont>
    <p:embeddedFont>
      <p:font typeface="Times New Roman MT" charset="1" panose="02030502070405020303"/>
      <p:regular r:id="rId30"/>
    </p:embeddedFont>
    <p:embeddedFont>
      <p:font typeface="Montserrat Bold" charset="1" panose="00000800000000000000"/>
      <p:regular r:id="rId31"/>
    </p:embeddedFont>
    <p:embeddedFont>
      <p:font typeface="Montserrat" charset="1" panose="00000500000000000000"/>
      <p:regular r:id="rId32"/>
    </p:embeddedFont>
    <p:embeddedFont>
      <p:font typeface="Canva Sans Bold Italics" charset="1" panose="020B0803030501040103"/>
      <p:regular r:id="rId33"/>
    </p:embeddedFont>
    <p:embeddedFont>
      <p:font typeface="Canva Sans" charset="1" panose="020B05030305010401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huggingface.co/spaces/Youssefebrahim1/smart-sign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https://huggingface.co/spaces/Youssefebrahim1/smart-sign" TargetMode="External" Type="http://schemas.openxmlformats.org/officeDocument/2006/relationships/hyperlink"/><Relationship Id="rId9" Target="https://huggingface.co/spaces/Youssefebrahim1/smart-sign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2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https://drive.google.com/drive/folders/1rGSFn6qyEqxUR_Z5uh63VnTACJFzuGrz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8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0.png" Type="http://schemas.openxmlformats.org/officeDocument/2006/relationships/image"/><Relationship Id="rId6" Target="https://github.com/DEPI-Poject-Team-1/gradprojct/tree/main/Smart_Sign_Project/ui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6vqQuzJo.mp4" Type="http://schemas.microsoft.com/office/2007/relationships/media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4.jpeg" Type="http://schemas.openxmlformats.org/officeDocument/2006/relationships/image"/><Relationship Id="rId6" Target="../media/VAG6vfDZzkU.mp4" Type="http://schemas.openxmlformats.org/officeDocument/2006/relationships/video"/><Relationship Id="rId7" Target="../media/VAG6vfDZzkU.mp4" Type="http://schemas.microsoft.com/office/2007/relationships/media"/><Relationship Id="rId8" Target="../media/image25.jpeg" Type="http://schemas.openxmlformats.org/officeDocument/2006/relationships/image"/><Relationship Id="rId9" Target="../media/VAG6vqQuzJo.mp4" Type="http://schemas.openxmlformats.org/officeDocument/2006/relationships/video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jpeg" Type="http://schemas.openxmlformats.org/officeDocument/2006/relationships/image"/><Relationship Id="rId11" Target="../media/image32.jpe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jpeg" Type="http://schemas.openxmlformats.org/officeDocument/2006/relationships/image"/><Relationship Id="rId9" Target="../media/image3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172222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8944306" y="5180427"/>
            <a:ext cx="399388" cy="8135684"/>
          </a:xfrm>
          <a:custGeom>
            <a:avLst/>
            <a:gdLst/>
            <a:ahLst/>
            <a:cxnLst/>
            <a:rect r="r" b="b" t="t" l="l"/>
            <a:pathLst>
              <a:path h="8135684" w="399388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1027435" y="-1532004"/>
            <a:ext cx="3775893" cy="3604261"/>
          </a:xfrm>
          <a:custGeom>
            <a:avLst/>
            <a:gdLst/>
            <a:ahLst/>
            <a:cxnLst/>
            <a:rect r="r" b="b" t="t" l="l"/>
            <a:pathLst>
              <a:path h="3604261" w="3775893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5742064" y="7933765"/>
            <a:ext cx="3775893" cy="3604261"/>
          </a:xfrm>
          <a:custGeom>
            <a:avLst/>
            <a:gdLst/>
            <a:ahLst/>
            <a:cxnLst/>
            <a:rect r="r" b="b" t="t" l="l"/>
            <a:pathLst>
              <a:path h="3604261" w="3775893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18313" y="1172222"/>
            <a:ext cx="1740987" cy="1600585"/>
          </a:xfrm>
          <a:custGeom>
            <a:avLst/>
            <a:gdLst/>
            <a:ahLst/>
            <a:cxnLst/>
            <a:rect r="r" b="b" t="t" l="l"/>
            <a:pathLst>
              <a:path h="1600585" w="1740987">
                <a:moveTo>
                  <a:pt x="0" y="0"/>
                </a:moveTo>
                <a:lnTo>
                  <a:pt x="1740987" y="0"/>
                </a:lnTo>
                <a:lnTo>
                  <a:pt x="1740987" y="1600585"/>
                </a:lnTo>
                <a:lnTo>
                  <a:pt x="0" y="16005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60477" y="3000049"/>
            <a:ext cx="14567046" cy="258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98"/>
              </a:lnSpc>
            </a:pPr>
            <a:r>
              <a:rPr lang="en-US" sz="9927" spc="-99">
                <a:solidFill>
                  <a:srgbClr val="DFF0FF"/>
                </a:solidFill>
                <a:latin typeface="Mokoto"/>
                <a:ea typeface="Mokoto"/>
                <a:cs typeface="Mokoto"/>
                <a:sym typeface="Mokoto"/>
              </a:rPr>
              <a:t>SMART SIGN</a:t>
            </a:r>
          </a:p>
          <a:p>
            <a:pPr algn="ctr">
              <a:lnSpc>
                <a:spcPts val="6391"/>
              </a:lnSpc>
            </a:pPr>
            <a:r>
              <a:rPr lang="en-US" sz="4565" spc="-45">
                <a:solidFill>
                  <a:srgbClr val="DFF0FF"/>
                </a:solidFill>
                <a:latin typeface="Mokoto"/>
                <a:ea typeface="Mokoto"/>
                <a:cs typeface="Mokoto"/>
                <a:sym typeface="Mokoto"/>
              </a:rPr>
              <a:t>HAND GESTURES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54845" y="6522367"/>
            <a:ext cx="8978311" cy="75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0"/>
              </a:lnSpc>
            </a:pPr>
            <a:r>
              <a:rPr lang="en-US" sz="4350">
                <a:solidFill>
                  <a:srgbClr val="91C3F7"/>
                </a:solidFill>
                <a:latin typeface="Mokoto"/>
                <a:ea typeface="Mokoto"/>
                <a:cs typeface="Mokoto"/>
                <a:sym typeface="Mokoto"/>
              </a:rPr>
              <a:t>Final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267" y="8867924"/>
            <a:ext cx="2780002" cy="32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DFF0FF">
                    <a:alpha val="83922"/>
                  </a:srgbClr>
                </a:solidFill>
                <a:latin typeface="Leckerli One"/>
                <a:ea typeface="Leckerli One"/>
                <a:cs typeface="Leckerli One"/>
                <a:sym typeface="Leckerli One"/>
              </a:rPr>
              <a:t>Made By Team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53999" y="9843055"/>
            <a:ext cx="2780002" cy="32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DFF0FF">
                    <a:alpha val="83922"/>
                  </a:srgbClr>
                </a:solidFill>
                <a:latin typeface="Leckerli One"/>
                <a:ea typeface="Leckerli One"/>
                <a:cs typeface="Leckerli One"/>
                <a:sym typeface="Leckerli One"/>
              </a:rPr>
              <a:t>ROUND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-10792239">
            <a:off x="-724606" y="8954135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792239">
            <a:off x="16612207" y="-936064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49644" y="1028700"/>
            <a:ext cx="6988712" cy="1023338"/>
            <a:chOff x="0" y="0"/>
            <a:chExt cx="9318283" cy="1364450"/>
          </a:xfrm>
        </p:grpSpPr>
        <p:sp>
          <p:nvSpPr>
            <p:cNvPr name="AutoShape 14" id="14"/>
            <p:cNvSpPr/>
            <p:nvPr/>
          </p:nvSpPr>
          <p:spPr>
            <a:xfrm>
              <a:off x="330982" y="1351750"/>
              <a:ext cx="8656320" cy="0"/>
            </a:xfrm>
            <a:prstGeom prst="line">
              <a:avLst/>
            </a:prstGeom>
            <a:ln cap="flat" w="25400">
              <a:solidFill>
                <a:srgbClr val="40597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-114300"/>
              <a:ext cx="9318283" cy="11585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231"/>
                </a:lnSpc>
                <a:spcBef>
                  <a:spcPct val="0"/>
                </a:spcBef>
              </a:pPr>
              <a:r>
                <a:rPr lang="en-US" sz="5165" spc="-51" strike="noStrike" u="none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THE PROBELM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692015" y="4310470"/>
            <a:ext cx="2903970" cy="39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6"/>
              </a:lnSpc>
              <a:spcBef>
                <a:spcPct val="0"/>
              </a:spcBef>
            </a:pPr>
            <a:r>
              <a:rPr lang="en-US" b="true" sz="2326" strike="noStrike" u="non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IBM Plex Serif Bold"/>
                <a:ea typeface="IBM Plex Serif Bold"/>
                <a:cs typeface="IBM Plex Serif Bold"/>
                <a:sym typeface="IBM Plex Serif Bold"/>
              </a:rPr>
              <a:t>CHALLENGES 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309060" y="4949636"/>
            <a:ext cx="14300238" cy="4185971"/>
            <a:chOff x="0" y="0"/>
            <a:chExt cx="19066984" cy="55812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479058"/>
              <a:ext cx="4456235" cy="3481256"/>
            </a:xfrm>
            <a:custGeom>
              <a:avLst/>
              <a:gdLst/>
              <a:ahLst/>
              <a:cxnLst/>
              <a:rect r="r" b="b" t="t" l="l"/>
              <a:pathLst>
                <a:path h="3481256" w="4456235">
                  <a:moveTo>
                    <a:pt x="0" y="0"/>
                  </a:moveTo>
                  <a:lnTo>
                    <a:pt x="4456235" y="0"/>
                  </a:lnTo>
                  <a:lnTo>
                    <a:pt x="4456235" y="3481256"/>
                  </a:lnTo>
                  <a:lnTo>
                    <a:pt x="0" y="3481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77" r="0" b="-3877"/>
              </a:stretch>
            </a:blip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951737" y="0"/>
              <a:ext cx="4596872" cy="4266020"/>
            </a:xfrm>
            <a:custGeom>
              <a:avLst/>
              <a:gdLst/>
              <a:ahLst/>
              <a:cxnLst/>
              <a:rect r="r" b="b" t="t" l="l"/>
              <a:pathLst>
                <a:path h="4266020" w="4596872">
                  <a:moveTo>
                    <a:pt x="0" y="0"/>
                  </a:moveTo>
                  <a:lnTo>
                    <a:pt x="4596872" y="0"/>
                  </a:lnTo>
                  <a:lnTo>
                    <a:pt x="4596872" y="4266020"/>
                  </a:lnTo>
                  <a:lnTo>
                    <a:pt x="0" y="4266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877" r="0" b="-3877"/>
              </a:stretch>
            </a:blipFill>
            <a:ln w="2095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4656908" y="173352"/>
              <a:ext cx="4410076" cy="4092668"/>
            </a:xfrm>
            <a:custGeom>
              <a:avLst/>
              <a:gdLst/>
              <a:ahLst/>
              <a:cxnLst/>
              <a:rect r="r" b="b" t="t" l="l"/>
              <a:pathLst>
                <a:path h="4092668" w="4410076">
                  <a:moveTo>
                    <a:pt x="0" y="0"/>
                  </a:moveTo>
                  <a:lnTo>
                    <a:pt x="4410076" y="0"/>
                  </a:lnTo>
                  <a:lnTo>
                    <a:pt x="4410076" y="4092668"/>
                  </a:lnTo>
                  <a:lnTo>
                    <a:pt x="0" y="4092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877" r="0" b="-3877"/>
              </a:stretch>
            </a:blipFill>
            <a:ln w="1714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489308" y="4437144"/>
              <a:ext cx="3162292" cy="1093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2"/>
                </a:lnSpc>
              </a:pPr>
              <a:r>
                <a:rPr lang="en-US" sz="2372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Communication</a:t>
              </a:r>
            </a:p>
            <a:p>
              <a:pPr algn="ctr">
                <a:lnSpc>
                  <a:spcPts val="3322"/>
                </a:lnSpc>
              </a:pPr>
              <a:r>
                <a:rPr lang="en-US" sz="2372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Barriers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971775" y="4488003"/>
              <a:ext cx="2728954" cy="1093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3"/>
                </a:lnSpc>
              </a:pPr>
              <a:r>
                <a:rPr lang="en-US" sz="2373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Dependence</a:t>
              </a:r>
            </a:p>
            <a:p>
              <a:pPr algn="ctr">
                <a:lnSpc>
                  <a:spcPts val="3323"/>
                </a:lnSpc>
                <a:spcBef>
                  <a:spcPct val="0"/>
                </a:spcBef>
              </a:pPr>
              <a:r>
                <a:rPr lang="en-US" b="true" sz="2373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 on Others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5020905" y="4437144"/>
              <a:ext cx="3682082" cy="535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3"/>
                </a:lnSpc>
                <a:spcBef>
                  <a:spcPct val="0"/>
                </a:spcBef>
              </a:pPr>
              <a:r>
                <a:rPr lang="en-US" b="true" sz="2373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Emotional Struggles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46660" y="2413074"/>
            <a:ext cx="14994680" cy="170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with speech or hearing impairments face daily communication barriers in simple tasks and social interactions. This project aims to reduce these challenges by creating a real-time sign-language recognition system using computer vision and deep learning to improve accessibility and inclusion.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297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3638605" y="1782378"/>
            <a:ext cx="10849553" cy="59047"/>
          </a:xfrm>
          <a:prstGeom prst="line">
            <a:avLst/>
          </a:prstGeom>
          <a:ln cap="flat" w="1905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true" flipV="true" rot="0">
            <a:off x="-1043544" y="9080050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2579839"/>
                </a:moveTo>
                <a:lnTo>
                  <a:pt x="0" y="2579839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3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400000">
            <a:off x="16666806" y="-1097009"/>
            <a:ext cx="2685507" cy="2563439"/>
          </a:xfrm>
          <a:custGeom>
            <a:avLst/>
            <a:gdLst/>
            <a:ahLst/>
            <a:cxnLst/>
            <a:rect r="r" b="b" t="t" l="l"/>
            <a:pathLst>
              <a:path h="2563439" w="2685507">
                <a:moveTo>
                  <a:pt x="2685507" y="0"/>
                </a:moveTo>
                <a:lnTo>
                  <a:pt x="0" y="0"/>
                </a:lnTo>
                <a:lnTo>
                  <a:pt x="0" y="2563439"/>
                </a:lnTo>
                <a:lnTo>
                  <a:pt x="2685507" y="2563439"/>
                </a:lnTo>
                <a:lnTo>
                  <a:pt x="26855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67650" y="4687355"/>
            <a:ext cx="2567284" cy="2567284"/>
          </a:xfrm>
          <a:custGeom>
            <a:avLst/>
            <a:gdLst/>
            <a:ahLst/>
            <a:cxnLst/>
            <a:rect r="r" b="b" t="t" l="l"/>
            <a:pathLst>
              <a:path h="2567284" w="2567284">
                <a:moveTo>
                  <a:pt x="0" y="0"/>
                </a:moveTo>
                <a:lnTo>
                  <a:pt x="2567284" y="0"/>
                </a:lnTo>
                <a:lnTo>
                  <a:pt x="2567284" y="2567284"/>
                </a:lnTo>
                <a:lnTo>
                  <a:pt x="0" y="25672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14025" y="884877"/>
            <a:ext cx="12659950" cy="897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sz="5165" spc="-5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PROJECT OVERVIEW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15214101" y="8833877"/>
            <a:ext cx="3775893" cy="3604261"/>
          </a:xfrm>
          <a:custGeom>
            <a:avLst/>
            <a:gdLst/>
            <a:ahLst/>
            <a:cxnLst/>
            <a:rect r="r" b="b" t="t" l="l"/>
            <a:pathLst>
              <a:path h="3604261" w="3775893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3015" y="2125310"/>
            <a:ext cx="1191371" cy="1067902"/>
          </a:xfrm>
          <a:custGeom>
            <a:avLst/>
            <a:gdLst/>
            <a:ahLst/>
            <a:cxnLst/>
            <a:rect r="r" b="b" t="t" l="l"/>
            <a:pathLst>
              <a:path h="1067902" w="1191371">
                <a:moveTo>
                  <a:pt x="0" y="0"/>
                </a:moveTo>
                <a:lnTo>
                  <a:pt x="1191370" y="0"/>
                </a:lnTo>
                <a:lnTo>
                  <a:pt x="1191370" y="1067901"/>
                </a:lnTo>
                <a:lnTo>
                  <a:pt x="0" y="1067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77875" y="2261849"/>
            <a:ext cx="12413525" cy="742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8"/>
              </a:lnSpc>
            </a:pPr>
            <a:r>
              <a:rPr lang="en-US" sz="3920" b="tru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Overview:</a:t>
            </a:r>
          </a:p>
          <a:p>
            <a:pPr algn="l">
              <a:lnSpc>
                <a:spcPts val="4112"/>
              </a:lnSpc>
            </a:pPr>
            <a:r>
              <a:rPr lang="en-US" sz="293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operates in </a:t>
            </a:r>
            <a:r>
              <a:rPr lang="en-US" sz="2937" b="true">
                <a:solidFill>
                  <a:srgbClr val="5895D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two</a:t>
            </a:r>
            <a:r>
              <a:rPr lang="en-US" sz="2937">
                <a:solidFill>
                  <a:srgbClr val="5895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93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modes:</a:t>
            </a:r>
          </a:p>
          <a:p>
            <a:pPr algn="l">
              <a:lnSpc>
                <a:spcPts val="3767"/>
              </a:lnSpc>
            </a:pPr>
          </a:p>
          <a:p>
            <a:pPr algn="l">
              <a:lnSpc>
                <a:spcPts val="3767"/>
              </a:lnSpc>
            </a:pPr>
            <a:r>
              <a:rPr lang="en-US" sz="2691" b="true">
                <a:solidFill>
                  <a:srgbClr val="5895D5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8" tooltip="https://huggingface.co/spaces/Youssefebrahim1/smart-sign"/>
              </a:rPr>
              <a:t>1. Letter Recognition Mode</a:t>
            </a:r>
            <a:r>
              <a:rPr lang="en-US" sz="2691">
                <a:solidFill>
                  <a:srgbClr val="5895D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huggingface.co/spaces/Youssefebrahim1/smart-sign"/>
              </a:rPr>
              <a:t> </a:t>
            </a:r>
            <a:r>
              <a:rPr lang="en-US" sz="26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 tooltip="https://huggingface.co/spaces/Youssefebrahim1/smart-sign"/>
              </a:rPr>
              <a:t>(Done)</a:t>
            </a:r>
          </a:p>
          <a:p>
            <a:pPr algn="l" marL="581074" indent="-290537" lvl="1">
              <a:lnSpc>
                <a:spcPts val="3767"/>
              </a:lnSpc>
              <a:buFont typeface="Arial"/>
              <a:buChar char="•"/>
            </a:pPr>
            <a:r>
              <a:rPr lang="en-US" sz="2691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Recognizes static ASL letters in real time.</a:t>
            </a:r>
          </a:p>
          <a:p>
            <a:pPr algn="l" marL="581074" indent="-290537" lvl="1">
              <a:lnSpc>
                <a:spcPts val="3767"/>
              </a:lnSpc>
              <a:buFont typeface="Arial"/>
              <a:buChar char="•"/>
            </a:pPr>
            <a:r>
              <a:rPr lang="en-US" sz="2691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trained and deployed with high accuracy.</a:t>
            </a:r>
          </a:p>
          <a:p>
            <a:pPr algn="l" marL="581074" indent="-290537" lvl="1">
              <a:lnSpc>
                <a:spcPts val="3767"/>
              </a:lnSpc>
              <a:buFont typeface="Arial"/>
              <a:buChar char="•"/>
            </a:pPr>
            <a:r>
              <a:rPr lang="en-US" sz="2691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Lets users form words and sentences letter-by-letter.</a:t>
            </a:r>
          </a:p>
          <a:p>
            <a:pPr algn="l">
              <a:lnSpc>
                <a:spcPts val="3767"/>
              </a:lnSpc>
            </a:pPr>
            <a:r>
              <a:rPr lang="en-US" sz="2691" b="true">
                <a:solidFill>
                  <a:srgbClr val="5895D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Video-Based Word &amp; Sentence Mode</a:t>
            </a:r>
            <a:r>
              <a:rPr lang="en-US" sz="2691">
                <a:solidFill>
                  <a:srgbClr val="5895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 Progress)</a:t>
            </a:r>
          </a:p>
          <a:p>
            <a:pPr algn="l" marL="581074" indent="-290537" lvl="1">
              <a:lnSpc>
                <a:spcPts val="3767"/>
              </a:lnSpc>
              <a:buFont typeface="Arial"/>
              <a:buChar char="•"/>
            </a:pPr>
            <a:r>
              <a:rPr lang="en-US" sz="2691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Targets dynamic gesture recognition using MediaPipe keypoints.</a:t>
            </a:r>
          </a:p>
          <a:p>
            <a:pPr algn="l" marL="581074" indent="-290537" lvl="1">
              <a:lnSpc>
                <a:spcPts val="3767"/>
              </a:lnSpc>
              <a:buFont typeface="Arial"/>
              <a:buChar char="•"/>
            </a:pPr>
            <a:r>
              <a:rPr lang="en-US" sz="2691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Aims to interpret full words and sentences.</a:t>
            </a:r>
          </a:p>
          <a:p>
            <a:pPr algn="l" marL="581074" indent="-290537" lvl="1">
              <a:lnSpc>
                <a:spcPts val="3767"/>
              </a:lnSpc>
              <a:buFont typeface="Arial"/>
              <a:buChar char="•"/>
            </a:pPr>
            <a:r>
              <a:rPr lang="en-US" sz="2691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Currently limited by dataset availability and motion complexity.</a:t>
            </a:r>
          </a:p>
          <a:p>
            <a:pPr algn="l">
              <a:lnSpc>
                <a:spcPts val="3767"/>
              </a:lnSpc>
            </a:pPr>
          </a:p>
          <a:p>
            <a:pPr algn="l">
              <a:lnSpc>
                <a:spcPts val="3767"/>
              </a:lnSpc>
            </a:pPr>
            <a:r>
              <a:rPr lang="en-US" sz="2691" b="tru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Goal</a:t>
            </a:r>
          </a:p>
          <a:p>
            <a:pPr algn="l">
              <a:lnSpc>
                <a:spcPts val="3767"/>
              </a:lnSpc>
            </a:pPr>
            <a:r>
              <a:rPr lang="en-US" sz="269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scalable foundation for a complete, real-time sign-language interpretation system.</a:t>
            </a:r>
          </a:p>
          <a:p>
            <a:pPr algn="l">
              <a:lnSpc>
                <a:spcPts val="376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533050" y="9851609"/>
            <a:ext cx="1210317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Poppins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27515" y="-851227"/>
            <a:ext cx="19015515" cy="11138227"/>
            <a:chOff x="0" y="0"/>
            <a:chExt cx="5008201" cy="2933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2933525"/>
            </a:xfrm>
            <a:custGeom>
              <a:avLst/>
              <a:gdLst/>
              <a:ahLst/>
              <a:cxnLst/>
              <a:rect r="r" b="b" t="t" l="l"/>
              <a:pathLst>
                <a:path h="2933525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2933525"/>
                  </a:lnTo>
                  <a:lnTo>
                    <a:pt x="0" y="293352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08201" cy="29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2407264">
            <a:off x="15345886" y="8245814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6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6" y="4551537"/>
                </a:lnTo>
                <a:lnTo>
                  <a:pt x="476827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92239">
            <a:off x="-724606" y="8305394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2258560" y="1772753"/>
          <a:ext cx="14954995" cy="8229600"/>
        </p:xfrm>
        <a:graphic>
          <a:graphicData uri="http://schemas.openxmlformats.org/presentationml/2006/ole">
            <p:oleObj imgW="17945100" imgH="112141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3716598" y="596142"/>
            <a:ext cx="10854804" cy="779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1"/>
              </a:lnSpc>
              <a:spcBef>
                <a:spcPct val="0"/>
              </a:spcBef>
            </a:pPr>
            <a:r>
              <a:rPr lang="en-US" sz="4565" spc="-45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TIMELINE PLANNING</a:t>
            </a:r>
          </a:p>
        </p:txBody>
      </p:sp>
    </p:spTree>
  </p:cSld>
  <p:clrMapOvr>
    <a:masterClrMapping/>
  </p:clrMapOvr>
  <p:transition spd="fast">
    <p:circl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7990" y="0"/>
            <a:ext cx="18695040" cy="10387054"/>
            <a:chOff x="0" y="0"/>
            <a:chExt cx="4923796" cy="2735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23796" cy="2735685"/>
            </a:xfrm>
            <a:custGeom>
              <a:avLst/>
              <a:gdLst/>
              <a:ahLst/>
              <a:cxnLst/>
              <a:rect r="r" b="b" t="t" l="l"/>
              <a:pathLst>
                <a:path h="2735685" w="4923796">
                  <a:moveTo>
                    <a:pt x="0" y="0"/>
                  </a:moveTo>
                  <a:lnTo>
                    <a:pt x="4923796" y="0"/>
                  </a:lnTo>
                  <a:lnTo>
                    <a:pt x="4923796" y="2735685"/>
                  </a:lnTo>
                  <a:lnTo>
                    <a:pt x="0" y="273568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23796" cy="2773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-888800" y="8997080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90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90" y="0"/>
                </a:lnTo>
                <a:lnTo>
                  <a:pt x="2702690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400000">
            <a:off x="16666806" y="-1097009"/>
            <a:ext cx="2685507" cy="2563439"/>
          </a:xfrm>
          <a:custGeom>
            <a:avLst/>
            <a:gdLst/>
            <a:ahLst/>
            <a:cxnLst/>
            <a:rect r="r" b="b" t="t" l="l"/>
            <a:pathLst>
              <a:path h="2563439" w="2685507">
                <a:moveTo>
                  <a:pt x="2685507" y="0"/>
                </a:moveTo>
                <a:lnTo>
                  <a:pt x="0" y="0"/>
                </a:lnTo>
                <a:lnTo>
                  <a:pt x="0" y="2563439"/>
                </a:lnTo>
                <a:lnTo>
                  <a:pt x="2685507" y="2563439"/>
                </a:lnTo>
                <a:lnTo>
                  <a:pt x="26855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12125" y="952500"/>
            <a:ext cx="13663750" cy="68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91"/>
              </a:lnSpc>
              <a:spcBef>
                <a:spcPct val="0"/>
              </a:spcBef>
            </a:pPr>
            <a:r>
              <a:rPr lang="en-US" sz="4065" spc="-4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COLLECTION &amp; </a:t>
            </a:r>
            <a:r>
              <a:rPr lang="en-US" sz="4065" spc="-40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PREPROCESSING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6738" y="2520723"/>
            <a:ext cx="8827044" cy="6054715"/>
            <a:chOff x="0" y="0"/>
            <a:chExt cx="11769392" cy="807295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3077694"/>
              <a:ext cx="11769392" cy="499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76"/>
                </a:lnSpc>
              </a:pPr>
              <a:r>
                <a:rPr lang="en-US" b="true" sz="2983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 Preprocessing </a:t>
              </a:r>
            </a:p>
            <a:p>
              <a:pPr algn="just" marL="477664" indent="-238832" lvl="1">
                <a:lnSpc>
                  <a:spcPts val="3097"/>
                </a:lnSpc>
                <a:buFont typeface="Arial"/>
                <a:buChar char="•"/>
              </a:pPr>
              <a:r>
                <a:rPr lang="en-US" sz="2212">
                  <a:solidFill>
                    <a:srgbClr val="D9D9D9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Preprocessing ensures clean, consistent inputs for accurate model training.</a:t>
              </a:r>
            </a:p>
            <a:p>
              <a:pPr algn="just">
                <a:lnSpc>
                  <a:spcPts val="2829"/>
                </a:lnSpc>
              </a:pPr>
            </a:p>
            <a:p>
              <a:pPr algn="just">
                <a:lnSpc>
                  <a:spcPts val="4310"/>
                </a:lnSpc>
              </a:pPr>
              <a:r>
                <a:rPr lang="en-US" b="true" sz="3079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Key Steps</a:t>
              </a:r>
            </a:p>
            <a:p>
              <a:pPr algn="just" marL="477664" indent="-238832" lvl="1">
                <a:lnSpc>
                  <a:spcPts val="3097"/>
                </a:lnSpc>
                <a:buFont typeface="Arial"/>
                <a:buChar char="•"/>
              </a:pPr>
              <a:r>
                <a:rPr lang="en-US" sz="2212">
                  <a:solidFill>
                    <a:srgbClr val="D9D9D9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Resize images to 28×28 grayscale.</a:t>
              </a:r>
            </a:p>
            <a:p>
              <a:pPr algn="just" marL="477664" indent="-238832" lvl="1">
                <a:lnSpc>
                  <a:spcPts val="3097"/>
                </a:lnSpc>
                <a:buFont typeface="Arial"/>
                <a:buChar char="•"/>
              </a:pPr>
              <a:r>
                <a:rPr lang="en-US" sz="2212">
                  <a:solidFill>
                    <a:srgbClr val="D9D9D9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Convert video samples to 30×171</a:t>
              </a:r>
              <a:r>
                <a:rPr lang="en-US" sz="2212">
                  <a:solidFill>
                    <a:srgbClr val="D9D9D9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key point matrices.</a:t>
              </a:r>
            </a:p>
            <a:p>
              <a:pPr algn="just" marL="477664" indent="-238832" lvl="1">
                <a:lnSpc>
                  <a:spcPts val="3097"/>
                </a:lnSpc>
                <a:buFont typeface="Arial"/>
                <a:buChar char="•"/>
              </a:pPr>
              <a:r>
                <a:rPr lang="en-US" sz="2212">
                  <a:solidFill>
                    <a:srgbClr val="D9D9D9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Normalize features and remove irrelevant classes .</a:t>
              </a:r>
            </a:p>
            <a:p>
              <a:pPr algn="just">
                <a:lnSpc>
                  <a:spcPts val="282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11769392" cy="2876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45"/>
                </a:lnSpc>
              </a:pPr>
              <a:r>
                <a:rPr lang="en-US" b="true" sz="3246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Sources</a:t>
              </a:r>
            </a:p>
            <a:p>
              <a:pPr algn="l" marL="476565" indent="-238282" lvl="1">
                <a:lnSpc>
                  <a:spcPts val="3090"/>
                </a:lnSpc>
                <a:buFont typeface="Arial"/>
                <a:buChar char="•"/>
              </a:pPr>
              <a:r>
                <a:rPr lang="en-US" sz="2207">
                  <a:solidFill>
                    <a:srgbClr val="D9D9D9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Public datasets from Kaggle (ASL Alphabet, Sign Language MNIST) in total 86,764 training images.</a:t>
              </a:r>
            </a:p>
            <a:p>
              <a:pPr algn="l" marL="476565" indent="-238282" lvl="1">
                <a:lnSpc>
                  <a:spcPts val="3090"/>
                </a:lnSpc>
                <a:buFont typeface="Arial"/>
                <a:buChar char="•"/>
              </a:pPr>
              <a:r>
                <a:rPr lang="en-US" sz="2207">
                  <a:solidFill>
                    <a:srgbClr val="D9D9D9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WLASL videos processed with MediaPipe to extract hand/body keypoints.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848003" y="2526462"/>
            <a:ext cx="8328072" cy="5928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8"/>
              </a:lnSpc>
              <a:spcBef>
                <a:spcPct val="0"/>
              </a:spcBef>
            </a:pPr>
            <a:r>
              <a:rPr lang="en-US" b="true" sz="2877" strike="noStrike" u="non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Augmentation</a:t>
            </a:r>
          </a:p>
          <a:p>
            <a:pPr algn="l" marL="599613" indent="-299807" lvl="1">
              <a:lnSpc>
                <a:spcPts val="3888"/>
              </a:lnSpc>
              <a:spcBef>
                <a:spcPct val="0"/>
              </a:spcBef>
              <a:buFont typeface="Arial"/>
              <a:buChar char="•"/>
            </a:pPr>
            <a:r>
              <a:rPr lang="en-US" sz="2777" strike="noStrike" u="none">
                <a:solidFill>
                  <a:srgbClr val="D9D9D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Images: rotation, zoom, shifts, shear (no flipping).</a:t>
            </a:r>
          </a:p>
          <a:p>
            <a:pPr algn="l" marL="599613" indent="-299807" lvl="1">
              <a:lnSpc>
                <a:spcPts val="3888"/>
              </a:lnSpc>
              <a:spcBef>
                <a:spcPct val="0"/>
              </a:spcBef>
              <a:buFont typeface="Arial"/>
              <a:buChar char="•"/>
            </a:pPr>
            <a:r>
              <a:rPr lang="en-US" sz="2777" strike="noStrike" u="none">
                <a:solidFill>
                  <a:srgbClr val="D9D9D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Videos: slight noise, frame shifting, small speed variation.</a:t>
            </a:r>
          </a:p>
          <a:p>
            <a:pPr algn="l">
              <a:lnSpc>
                <a:spcPts val="3888"/>
              </a:lnSpc>
              <a:spcBef>
                <a:spcPct val="0"/>
              </a:spcBef>
            </a:pPr>
          </a:p>
          <a:p>
            <a:pPr algn="l">
              <a:lnSpc>
                <a:spcPts val="4028"/>
              </a:lnSpc>
              <a:spcBef>
                <a:spcPct val="0"/>
              </a:spcBef>
            </a:pPr>
            <a:r>
              <a:rPr lang="en-US" b="true" sz="2877" strike="noStrike" u="non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Splits</a:t>
            </a:r>
          </a:p>
          <a:p>
            <a:pPr algn="l" marL="599613" indent="-299807" lvl="1">
              <a:lnSpc>
                <a:spcPts val="3888"/>
              </a:lnSpc>
              <a:spcBef>
                <a:spcPct val="0"/>
              </a:spcBef>
              <a:buFont typeface="Arial"/>
              <a:buChar char="•"/>
            </a:pPr>
            <a:r>
              <a:rPr lang="en-US" sz="2777" strike="noStrike" u="none">
                <a:solidFill>
                  <a:srgbClr val="D9D9D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Images: 70% train / 15% val / 15% test</a:t>
            </a:r>
          </a:p>
          <a:p>
            <a:pPr algn="l" marL="599613" indent="-299807" lvl="1">
              <a:lnSpc>
                <a:spcPts val="3888"/>
              </a:lnSpc>
              <a:spcBef>
                <a:spcPct val="0"/>
              </a:spcBef>
              <a:buFont typeface="Arial"/>
              <a:buChar char="•"/>
            </a:pPr>
            <a:r>
              <a:rPr lang="en-US" sz="2777" strike="noStrike" u="none">
                <a:solidFill>
                  <a:srgbClr val="D9D9D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Videos: 80% train / 20% val-test</a:t>
            </a:r>
          </a:p>
          <a:p>
            <a:pPr algn="l">
              <a:lnSpc>
                <a:spcPts val="3888"/>
              </a:lnSpc>
              <a:spcBef>
                <a:spcPct val="0"/>
              </a:spcBef>
            </a:pPr>
          </a:p>
          <a:p>
            <a:pPr algn="l">
              <a:lnSpc>
                <a:spcPts val="4028"/>
              </a:lnSpc>
              <a:spcBef>
                <a:spcPct val="0"/>
              </a:spcBef>
            </a:pPr>
            <a:r>
              <a:rPr lang="en-US" b="true" sz="2877" strike="noStrike" u="non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 Validation</a:t>
            </a:r>
          </a:p>
          <a:p>
            <a:pPr algn="l" marL="599613" indent="-299807" lvl="1">
              <a:lnSpc>
                <a:spcPts val="3888"/>
              </a:lnSpc>
              <a:spcBef>
                <a:spcPct val="0"/>
              </a:spcBef>
              <a:buFont typeface="Arial"/>
              <a:buChar char="•"/>
            </a:pPr>
            <a:r>
              <a:rPr lang="en-US" sz="2777" strike="noStrike" u="none">
                <a:solidFill>
                  <a:srgbClr val="D9D9D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Verified shapes, normalization, labels, class balance, and sample quality.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-2407264">
            <a:off x="15069854" y="8529282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6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6" y="4551537"/>
                </a:lnTo>
                <a:lnTo>
                  <a:pt x="476827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5179743" y="1995297"/>
            <a:ext cx="7928515" cy="0"/>
          </a:xfrm>
          <a:prstGeom prst="line">
            <a:avLst/>
          </a:prstGeom>
          <a:ln cap="flat" w="3810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6338" y="0"/>
            <a:ext cx="18354338" cy="10287000"/>
            <a:chOff x="0" y="0"/>
            <a:chExt cx="483406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340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34064">
                  <a:moveTo>
                    <a:pt x="0" y="0"/>
                  </a:moveTo>
                  <a:lnTo>
                    <a:pt x="4834064" y="0"/>
                  </a:lnTo>
                  <a:lnTo>
                    <a:pt x="48340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3406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-10792239">
            <a:off x="-1676897" y="9407436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792239">
            <a:off x="16612207" y="-936064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51674" y="511347"/>
            <a:ext cx="11184652" cy="15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1"/>
              </a:lnSpc>
              <a:spcBef>
                <a:spcPct val="0"/>
              </a:spcBef>
            </a:pPr>
            <a:r>
              <a:rPr lang="en-US" sz="4565" spc="-45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MODEL DEVELOPMENT PLAN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1416" y="1352527"/>
            <a:ext cx="16245223" cy="857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7"/>
              </a:lnSpc>
            </a:pPr>
          </a:p>
          <a:p>
            <a:pPr algn="just">
              <a:lnSpc>
                <a:spcPts val="3797"/>
              </a:lnSpc>
            </a:pPr>
            <a:r>
              <a:rPr lang="en-US" b="true" sz="2712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Classical Machine Learning Models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baseline, low performance (~14%).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HistGradient</a:t>
            </a: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Boosting 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high accuracy (~95%), but unstable with real-world variation.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strong results (~93–94%).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best classical model (~95%).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simulation revealed major </a:t>
            </a:r>
            <a:r>
              <a:rPr lang="en-US" sz="271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drops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showing classical models are </a:t>
            </a:r>
            <a:r>
              <a:rPr lang="en-US" sz="271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sensitive to noise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712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unsuitable for deployment or real-time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>
              <a:lnSpc>
                <a:spcPts val="3797"/>
              </a:lnSpc>
            </a:pPr>
          </a:p>
          <a:p>
            <a:pPr algn="just">
              <a:lnSpc>
                <a:spcPts val="3797"/>
              </a:lnSpc>
            </a:pPr>
            <a:r>
              <a:rPr lang="en-US" b="true" sz="2712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Deep Learning Models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Model 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92.5% accuracy; good real-time stability.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MobileNetV2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95.2% accuracy; very efficient for deployment.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LeNet50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(96.44%); strong per-class performance.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sz="271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(Fine-Tuned) ~98%  highest accuracy ; captures complex features</a:t>
            </a:r>
          </a:p>
          <a:p>
            <a:pPr algn="just">
              <a:lnSpc>
                <a:spcPts val="3797"/>
              </a:lnSpc>
            </a:pPr>
          </a:p>
          <a:p>
            <a:pPr algn="just">
              <a:lnSpc>
                <a:spcPts val="3797"/>
              </a:lnSpc>
            </a:pPr>
            <a:r>
              <a:rPr lang="en-US" b="true" sz="2712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Conclusion:</a:t>
            </a:r>
          </a:p>
          <a:p>
            <a:pPr algn="just" marL="585605" indent="-292803" lvl="1">
              <a:lnSpc>
                <a:spcPts val="3797"/>
              </a:lnSpc>
              <a:buFont typeface="Arial"/>
              <a:buChar char="•"/>
            </a:pPr>
            <a:r>
              <a:rPr lang="en-US" b="true" sz="2712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Pre-trained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models, especially </a:t>
            </a:r>
            <a:r>
              <a:rPr lang="en-US" b="true" sz="2712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LeNet50 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b="true" sz="2712">
                <a:solidFill>
                  <a:srgbClr val="D9D9D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ResNet50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provide the</a:t>
            </a:r>
            <a:r>
              <a:rPr lang="en-US" sz="2712">
                <a:solidFill>
                  <a:srgbClr val="00BF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best balance 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sz="2712">
                <a:solidFill>
                  <a:srgbClr val="91C3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lang="en-US" sz="2712">
                <a:solidFill>
                  <a:srgbClr val="D9D9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712">
                <a:solidFill>
                  <a:srgbClr val="91C3F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robustness, and deployability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386319" y="5143500"/>
            <a:ext cx="2872981" cy="2830731"/>
          </a:xfrm>
          <a:custGeom>
            <a:avLst/>
            <a:gdLst/>
            <a:ahLst/>
            <a:cxnLst/>
            <a:rect r="r" b="b" t="t" l="l"/>
            <a:pathLst>
              <a:path h="2830731" w="2872981">
                <a:moveTo>
                  <a:pt x="0" y="0"/>
                </a:moveTo>
                <a:lnTo>
                  <a:pt x="2872981" y="0"/>
                </a:lnTo>
                <a:lnTo>
                  <a:pt x="2872981" y="2830731"/>
                </a:lnTo>
                <a:lnTo>
                  <a:pt x="0" y="2830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27515" y="-851227"/>
            <a:ext cx="19015515" cy="11138227"/>
            <a:chOff x="0" y="0"/>
            <a:chExt cx="5008201" cy="2933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2933525"/>
            </a:xfrm>
            <a:custGeom>
              <a:avLst/>
              <a:gdLst/>
              <a:ahLst/>
              <a:cxnLst/>
              <a:rect r="r" b="b" t="t" l="l"/>
              <a:pathLst>
                <a:path h="2933525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2933525"/>
                  </a:lnTo>
                  <a:lnTo>
                    <a:pt x="0" y="293352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08201" cy="29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2407264">
            <a:off x="14494803" y="8740166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7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7" y="4551537"/>
                </a:lnTo>
                <a:lnTo>
                  <a:pt x="4768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92239">
            <a:off x="-724606" y="8954135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607238" y="5306200"/>
            <a:ext cx="2737746" cy="2595839"/>
          </a:xfrm>
          <a:custGeom>
            <a:avLst/>
            <a:gdLst/>
            <a:ahLst/>
            <a:cxnLst/>
            <a:rect r="r" b="b" t="t" l="l"/>
            <a:pathLst>
              <a:path h="2595839" w="2737746">
                <a:moveTo>
                  <a:pt x="0" y="0"/>
                </a:moveTo>
                <a:lnTo>
                  <a:pt x="2737746" y="0"/>
                </a:lnTo>
                <a:lnTo>
                  <a:pt x="2737746" y="2595840"/>
                </a:lnTo>
                <a:lnTo>
                  <a:pt x="0" y="2595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7607" t="-22570" r="-27642" b="-2209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63064" y="2559714"/>
            <a:ext cx="2757859" cy="3315616"/>
          </a:xfrm>
          <a:custGeom>
            <a:avLst/>
            <a:gdLst/>
            <a:ahLst/>
            <a:cxnLst/>
            <a:rect r="r" b="b" t="t" l="l"/>
            <a:pathLst>
              <a:path h="3315616" w="2757859">
                <a:moveTo>
                  <a:pt x="0" y="0"/>
                </a:moveTo>
                <a:lnTo>
                  <a:pt x="2757859" y="0"/>
                </a:lnTo>
                <a:lnTo>
                  <a:pt x="2757859" y="3315615"/>
                </a:lnTo>
                <a:lnTo>
                  <a:pt x="0" y="33156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780" b="-1842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31298" y="2496939"/>
            <a:ext cx="2562581" cy="3441166"/>
          </a:xfrm>
          <a:custGeom>
            <a:avLst/>
            <a:gdLst/>
            <a:ahLst/>
            <a:cxnLst/>
            <a:rect r="r" b="b" t="t" l="l"/>
            <a:pathLst>
              <a:path h="3441166" w="2562581">
                <a:moveTo>
                  <a:pt x="0" y="0"/>
                </a:moveTo>
                <a:lnTo>
                  <a:pt x="2562581" y="0"/>
                </a:lnTo>
                <a:lnTo>
                  <a:pt x="2562581" y="3441166"/>
                </a:lnTo>
                <a:lnTo>
                  <a:pt x="0" y="3441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225" r="-1804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716598" y="778779"/>
            <a:ext cx="10854804" cy="68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91"/>
              </a:lnSpc>
              <a:spcBef>
                <a:spcPct val="0"/>
              </a:spcBef>
            </a:pPr>
            <a:r>
              <a:rPr lang="en-US" sz="4065" spc="-40" strike="noStrik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  <a:hlinkClick r:id="rId8" tooltip="https://drive.google.com/drive/folders/1rGSFn6qyEqxUR_Z5uh63VnTACJFzuGrz"/>
              </a:rPr>
              <a:t>TEST CASES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5018" y="2679412"/>
            <a:ext cx="4278046" cy="260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sz="268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b="true" sz="268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est Case Overview:</a:t>
            </a:r>
          </a:p>
          <a:p>
            <a:pPr algn="l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5895D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ID:</a:t>
            </a: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TC001</a:t>
            </a:r>
          </a:p>
          <a:p>
            <a:pPr algn="l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5895D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Description:</a:t>
            </a: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Verify ASL hand gesture recognition.</a:t>
            </a:r>
          </a:p>
          <a:p>
            <a:pPr algn="l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5895D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Environment: </a:t>
            </a:r>
            <a:r>
              <a:rPr lang="en-US" sz="1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Python, TensorFlow, OpenCV, Mediapipe, Webcam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88670" y="2503200"/>
            <a:ext cx="4354172" cy="2959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5"/>
              </a:lnSpc>
              <a:spcBef>
                <a:spcPct val="0"/>
              </a:spcBef>
            </a:pPr>
            <a:r>
              <a:rPr lang="en-US" b="true" sz="2689" strike="noStrike" u="non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 Steps:</a:t>
            </a:r>
          </a:p>
          <a:p>
            <a:pPr algn="l" marL="429640" indent="-214820" lvl="1">
              <a:lnSpc>
                <a:spcPts val="2785"/>
              </a:lnSpc>
              <a:buFont typeface="Arial"/>
              <a:buChar char="•"/>
            </a:pPr>
            <a:r>
              <a:rPr lang="en-US" sz="198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Launch the Smart Sign application.</a:t>
            </a:r>
          </a:p>
          <a:p>
            <a:pPr algn="l" marL="429640" indent="-214820" lvl="1">
              <a:lnSpc>
                <a:spcPts val="2785"/>
              </a:lnSpc>
              <a:buFont typeface="Arial"/>
              <a:buChar char="•"/>
            </a:pPr>
            <a:r>
              <a:rPr lang="en-US" sz="198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Activate webcam.</a:t>
            </a:r>
          </a:p>
          <a:p>
            <a:pPr algn="l" marL="429640" indent="-214820" lvl="1">
              <a:lnSpc>
                <a:spcPts val="2785"/>
              </a:lnSpc>
              <a:buFont typeface="Arial"/>
              <a:buChar char="•"/>
            </a:pPr>
            <a:r>
              <a:rPr lang="en-US" sz="198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Perform a hand gesture.</a:t>
            </a:r>
          </a:p>
          <a:p>
            <a:pPr algn="l" marL="429640" indent="-214820" lvl="1">
              <a:lnSpc>
                <a:spcPts val="2785"/>
              </a:lnSpc>
              <a:buFont typeface="Arial"/>
              <a:buChar char="•"/>
            </a:pPr>
            <a:r>
              <a:rPr lang="en-US" sz="198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Observe the predicted letter.</a:t>
            </a:r>
          </a:p>
          <a:p>
            <a:pPr algn="l" marL="429640" indent="-214820" lvl="1">
              <a:lnSpc>
                <a:spcPts val="2785"/>
              </a:lnSpc>
              <a:buFont typeface="Arial"/>
              <a:buChar char="•"/>
            </a:pPr>
            <a:r>
              <a:rPr lang="en-US" sz="198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Repeat for all letters in the test set.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39785" y="8263990"/>
            <a:ext cx="8548952" cy="14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5"/>
              </a:lnSpc>
              <a:spcBef>
                <a:spcPct val="0"/>
              </a:spcBef>
            </a:pPr>
            <a:r>
              <a:rPr lang="en-US" sz="268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Notes:</a:t>
            </a:r>
          </a:p>
          <a:p>
            <a:pPr algn="l" marL="580767" indent="-290383" lvl="1">
              <a:lnSpc>
                <a:spcPts val="3765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Gestures must stay in the </a:t>
            </a:r>
            <a:r>
              <a:rPr lang="en-US" sz="2689">
                <a:solidFill>
                  <a:srgbClr val="9C58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ROI box</a:t>
            </a:r>
            <a:r>
              <a:rPr lang="en-US" sz="26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accurate prediction.</a:t>
            </a:r>
          </a:p>
          <a:p>
            <a:pPr algn="l" marL="580767" indent="-290383" lvl="1">
              <a:lnSpc>
                <a:spcPts val="3765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clutter can </a:t>
            </a:r>
            <a:r>
              <a:rPr lang="en-US" sz="2689">
                <a:solidFill>
                  <a:srgbClr val="FF31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</a:t>
            </a:r>
            <a:r>
              <a:rPr lang="en-US" sz="268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slightly.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5179743" y="1801614"/>
            <a:ext cx="7928515" cy="0"/>
          </a:xfrm>
          <a:prstGeom prst="line">
            <a:avLst/>
          </a:prstGeom>
          <a:ln cap="flat" w="3810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802610" y="4528847"/>
            <a:ext cx="347001" cy="33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07238" y="3374392"/>
            <a:ext cx="347001" cy="33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97983" y="3374392"/>
            <a:ext cx="347001" cy="33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419202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14702258" y="-2390905"/>
            <a:ext cx="3775893" cy="3604261"/>
          </a:xfrm>
          <a:custGeom>
            <a:avLst/>
            <a:gdLst/>
            <a:ahLst/>
            <a:cxnLst/>
            <a:rect r="r" b="b" t="t" l="l"/>
            <a:pathLst>
              <a:path h="3604261" w="3775893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15172083" y="9011497"/>
            <a:ext cx="3775893" cy="3604261"/>
          </a:xfrm>
          <a:custGeom>
            <a:avLst/>
            <a:gdLst/>
            <a:ahLst/>
            <a:cxnLst/>
            <a:rect r="r" b="b" t="t" l="l"/>
            <a:pathLst>
              <a:path h="3604261" w="3775893">
                <a:moveTo>
                  <a:pt x="3775893" y="0"/>
                </a:moveTo>
                <a:lnTo>
                  <a:pt x="0" y="0"/>
                </a:lnTo>
                <a:lnTo>
                  <a:pt x="0" y="3604261"/>
                </a:lnTo>
                <a:lnTo>
                  <a:pt x="3775893" y="3604261"/>
                </a:lnTo>
                <a:lnTo>
                  <a:pt x="37758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8966121" y="5528348"/>
            <a:ext cx="355757" cy="7246903"/>
          </a:xfrm>
          <a:custGeom>
            <a:avLst/>
            <a:gdLst/>
            <a:ahLst/>
            <a:cxnLst/>
            <a:rect r="r" b="b" t="t" l="l"/>
            <a:pathLst>
              <a:path h="7246903" w="355757">
                <a:moveTo>
                  <a:pt x="0" y="0"/>
                </a:moveTo>
                <a:lnTo>
                  <a:pt x="355758" y="0"/>
                </a:lnTo>
                <a:lnTo>
                  <a:pt x="355758" y="7246904"/>
                </a:lnTo>
                <a:lnTo>
                  <a:pt x="0" y="7246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999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095624" y="4891290"/>
            <a:ext cx="937392" cy="899491"/>
            <a:chOff x="0" y="0"/>
            <a:chExt cx="847048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7048" cy="812800"/>
            </a:xfrm>
            <a:custGeom>
              <a:avLst/>
              <a:gdLst/>
              <a:ahLst/>
              <a:cxnLst/>
              <a:rect r="r" b="b" t="t" l="l"/>
              <a:pathLst>
                <a:path h="812800" w="847048">
                  <a:moveTo>
                    <a:pt x="423524" y="0"/>
                  </a:moveTo>
                  <a:cubicBezTo>
                    <a:pt x="189618" y="0"/>
                    <a:pt x="0" y="181951"/>
                    <a:pt x="0" y="406400"/>
                  </a:cubicBezTo>
                  <a:cubicBezTo>
                    <a:pt x="0" y="630849"/>
                    <a:pt x="189618" y="812800"/>
                    <a:pt x="423524" y="812800"/>
                  </a:cubicBezTo>
                  <a:cubicBezTo>
                    <a:pt x="657430" y="812800"/>
                    <a:pt x="847048" y="630849"/>
                    <a:pt x="847048" y="406400"/>
                  </a:cubicBezTo>
                  <a:cubicBezTo>
                    <a:pt x="847048" y="181951"/>
                    <a:pt x="657430" y="0"/>
                    <a:pt x="4235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9411" y="38100"/>
              <a:ext cx="688227" cy="698500"/>
            </a:xfrm>
            <a:prstGeom prst="rect">
              <a:avLst/>
            </a:prstGeom>
          </p:spPr>
          <p:txBody>
            <a:bodyPr anchor="ctr" rtlCol="false" tIns="50628" lIns="50628" bIns="50628" rIns="50628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095624" y="5081086"/>
            <a:ext cx="937392" cy="47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5703" y="5965090"/>
            <a:ext cx="3517235" cy="32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b="true" sz="1927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ML Model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94275" y="4910782"/>
            <a:ext cx="972337" cy="933023"/>
            <a:chOff x="0" y="0"/>
            <a:chExt cx="847048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7048" cy="812800"/>
            </a:xfrm>
            <a:custGeom>
              <a:avLst/>
              <a:gdLst/>
              <a:ahLst/>
              <a:cxnLst/>
              <a:rect r="r" b="b" t="t" l="l"/>
              <a:pathLst>
                <a:path h="812800" w="847048">
                  <a:moveTo>
                    <a:pt x="423524" y="0"/>
                  </a:moveTo>
                  <a:cubicBezTo>
                    <a:pt x="189618" y="0"/>
                    <a:pt x="0" y="181951"/>
                    <a:pt x="0" y="406400"/>
                  </a:cubicBezTo>
                  <a:cubicBezTo>
                    <a:pt x="0" y="630849"/>
                    <a:pt x="189618" y="812800"/>
                    <a:pt x="423524" y="812800"/>
                  </a:cubicBezTo>
                  <a:cubicBezTo>
                    <a:pt x="657430" y="812800"/>
                    <a:pt x="847048" y="630849"/>
                    <a:pt x="847048" y="406400"/>
                  </a:cubicBezTo>
                  <a:cubicBezTo>
                    <a:pt x="847048" y="181951"/>
                    <a:pt x="657430" y="0"/>
                    <a:pt x="423524" y="0"/>
                  </a:cubicBezTo>
                  <a:close/>
                </a:path>
              </a:pathLst>
            </a:custGeom>
            <a:solidFill>
              <a:srgbClr val="FCF7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9411" y="38100"/>
              <a:ext cx="688227" cy="698500"/>
            </a:xfrm>
            <a:prstGeom prst="rect">
              <a:avLst/>
            </a:prstGeom>
          </p:spPr>
          <p:txBody>
            <a:bodyPr anchor="ctr" rtlCol="false" tIns="52516" lIns="52516" bIns="52516" rIns="52516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594275" y="5095875"/>
            <a:ext cx="972337" cy="48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b="true" sz="2909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39684" y="5961612"/>
            <a:ext cx="3648353" cy="32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1899">
                <a:solidFill>
                  <a:srgbClr val="D9D9D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LENET50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720040" y="2650210"/>
            <a:ext cx="922025" cy="884745"/>
            <a:chOff x="0" y="0"/>
            <a:chExt cx="847048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7048" cy="812800"/>
            </a:xfrm>
            <a:custGeom>
              <a:avLst/>
              <a:gdLst/>
              <a:ahLst/>
              <a:cxnLst/>
              <a:rect r="r" b="b" t="t" l="l"/>
              <a:pathLst>
                <a:path h="812800" w="847048">
                  <a:moveTo>
                    <a:pt x="423524" y="0"/>
                  </a:moveTo>
                  <a:cubicBezTo>
                    <a:pt x="189618" y="0"/>
                    <a:pt x="0" y="181951"/>
                    <a:pt x="0" y="406400"/>
                  </a:cubicBezTo>
                  <a:cubicBezTo>
                    <a:pt x="0" y="630849"/>
                    <a:pt x="189618" y="812800"/>
                    <a:pt x="423524" y="812800"/>
                  </a:cubicBezTo>
                  <a:cubicBezTo>
                    <a:pt x="657430" y="812800"/>
                    <a:pt x="847048" y="630849"/>
                    <a:pt x="847048" y="406400"/>
                  </a:cubicBezTo>
                  <a:cubicBezTo>
                    <a:pt x="847048" y="181951"/>
                    <a:pt x="657430" y="0"/>
                    <a:pt x="4235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9411" y="38100"/>
              <a:ext cx="688227" cy="698500"/>
            </a:xfrm>
            <a:prstGeom prst="rect">
              <a:avLst/>
            </a:prstGeom>
          </p:spPr>
          <p:txBody>
            <a:bodyPr anchor="ctr" rtlCol="false" tIns="49798" lIns="49798" bIns="49798" rIns="49798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382493" y="2136397"/>
            <a:ext cx="3459576" cy="32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</a:pPr>
            <a:r>
              <a:rPr lang="en-US" b="true" sz="18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29534" y="2814394"/>
            <a:ext cx="922025" cy="47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2"/>
              </a:lnSpc>
            </a:pPr>
            <a:r>
              <a:rPr lang="en-US" b="true" sz="2759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399404" y="2650210"/>
            <a:ext cx="922025" cy="884745"/>
            <a:chOff x="0" y="0"/>
            <a:chExt cx="847048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7048" cy="812800"/>
            </a:xfrm>
            <a:custGeom>
              <a:avLst/>
              <a:gdLst/>
              <a:ahLst/>
              <a:cxnLst/>
              <a:rect r="r" b="b" t="t" l="l"/>
              <a:pathLst>
                <a:path h="812800" w="847048">
                  <a:moveTo>
                    <a:pt x="423524" y="0"/>
                  </a:moveTo>
                  <a:cubicBezTo>
                    <a:pt x="189618" y="0"/>
                    <a:pt x="0" y="181951"/>
                    <a:pt x="0" y="406400"/>
                  </a:cubicBezTo>
                  <a:cubicBezTo>
                    <a:pt x="0" y="630849"/>
                    <a:pt x="189618" y="812800"/>
                    <a:pt x="423524" y="812800"/>
                  </a:cubicBezTo>
                  <a:cubicBezTo>
                    <a:pt x="657430" y="812800"/>
                    <a:pt x="847048" y="630849"/>
                    <a:pt x="847048" y="406400"/>
                  </a:cubicBezTo>
                  <a:cubicBezTo>
                    <a:pt x="847048" y="181951"/>
                    <a:pt x="657430" y="0"/>
                    <a:pt x="4235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9411" y="38100"/>
              <a:ext cx="688227" cy="698500"/>
            </a:xfrm>
            <a:prstGeom prst="rect">
              <a:avLst/>
            </a:prstGeom>
          </p:spPr>
          <p:txBody>
            <a:bodyPr anchor="ctr" rtlCol="false" tIns="49798" lIns="49798" bIns="49798" rIns="49798"/>
            <a:lstStyle/>
            <a:p>
              <a:pPr algn="ctr">
                <a:lnSpc>
                  <a:spcPts val="3111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130629" y="2136397"/>
            <a:ext cx="3459576" cy="30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b="true" sz="179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RESNET50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08898" y="2814394"/>
            <a:ext cx="922025" cy="47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2"/>
              </a:lnSpc>
            </a:pPr>
            <a:r>
              <a:rPr lang="en-US" b="true" sz="2759">
                <a:solidFill>
                  <a:srgbClr val="010F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700065" y="7111169"/>
            <a:ext cx="961974" cy="96197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45307" y="7212282"/>
            <a:ext cx="963684" cy="909847"/>
            <a:chOff x="0" y="0"/>
            <a:chExt cx="812800" cy="7673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767392"/>
            </a:xfrm>
            <a:custGeom>
              <a:avLst/>
              <a:gdLst/>
              <a:ahLst/>
              <a:cxnLst/>
              <a:rect r="r" b="b" t="t" l="l"/>
              <a:pathLst>
                <a:path h="767392" w="812800">
                  <a:moveTo>
                    <a:pt x="406400" y="0"/>
                  </a:moveTo>
                  <a:cubicBezTo>
                    <a:pt x="181951" y="0"/>
                    <a:pt x="0" y="171787"/>
                    <a:pt x="0" y="383696"/>
                  </a:cubicBezTo>
                  <a:cubicBezTo>
                    <a:pt x="0" y="595605"/>
                    <a:pt x="181951" y="767392"/>
                    <a:pt x="406400" y="767392"/>
                  </a:cubicBezTo>
                  <a:cubicBezTo>
                    <a:pt x="630849" y="767392"/>
                    <a:pt x="812800" y="595605"/>
                    <a:pt x="812800" y="383696"/>
                  </a:cubicBezTo>
                  <a:cubicBezTo>
                    <a:pt x="812800" y="1717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3843"/>
              <a:ext cx="660400" cy="661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115917" y="299732"/>
            <a:ext cx="12056166" cy="15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1"/>
              </a:lnSpc>
              <a:spcBef>
                <a:spcPct val="0"/>
              </a:spcBef>
            </a:pPr>
            <a:r>
              <a:rPr lang="en-US" sz="4565" spc="-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SUMMARY OF </a:t>
            </a:r>
            <a:r>
              <a:rPr lang="en-US" sz="4565" spc="-45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MODEL DEVELOPMENT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78913" y="8084029"/>
            <a:ext cx="184669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CNN OPTIMIZED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53471" y="7307482"/>
            <a:ext cx="855163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40829" y="8246209"/>
            <a:ext cx="2458164" cy="29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  <a:spcBef>
                <a:spcPct val="0"/>
              </a:spcBef>
            </a:pPr>
            <a:r>
              <a:rPr lang="en-US" b="true" sz="1755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 TIME - TESTING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45307" y="7448758"/>
            <a:ext cx="963684" cy="389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</a:t>
            </a:r>
          </a:p>
        </p:txBody>
      </p:sp>
      <p:sp>
        <p:nvSpPr>
          <p:cNvPr name="AutoShape 40" id="40"/>
          <p:cNvSpPr/>
          <p:nvPr/>
        </p:nvSpPr>
        <p:spPr>
          <a:xfrm flipV="true">
            <a:off x="3850728" y="3346357"/>
            <a:ext cx="3144963" cy="2001734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7181052" y="3511611"/>
            <a:ext cx="21207" cy="3843496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7608634" y="5597515"/>
            <a:ext cx="3234066" cy="1953173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1298414" y="3346357"/>
            <a:ext cx="3403844" cy="1985064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>
            <a:off x="14927149" y="3511611"/>
            <a:ext cx="0" cy="3700671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-2032304">
            <a:off x="3343673" y="3934295"/>
            <a:ext cx="3676045" cy="34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198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27 → </a:t>
            </a:r>
            <a:r>
              <a:rPr lang="en-US" b="true" sz="1987">
                <a:solidFill>
                  <a:srgbClr val="348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89</a:t>
            </a:r>
          </a:p>
        </p:txBody>
      </p:sp>
      <p:sp>
        <p:nvSpPr>
          <p:cNvPr name="TextBox 46" id="46"/>
          <p:cNvSpPr txBox="true"/>
          <p:nvPr/>
        </p:nvSpPr>
        <p:spPr>
          <a:xfrm rot="5400000">
            <a:off x="6362144" y="5178101"/>
            <a:ext cx="2154555" cy="33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89 → </a:t>
            </a:r>
            <a:r>
              <a:rPr lang="en-US" b="true" sz="1989">
                <a:solidFill>
                  <a:srgbClr val="348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91</a:t>
            </a:r>
          </a:p>
        </p:txBody>
      </p:sp>
      <p:sp>
        <p:nvSpPr>
          <p:cNvPr name="TextBox 47" id="47"/>
          <p:cNvSpPr txBox="true"/>
          <p:nvPr/>
        </p:nvSpPr>
        <p:spPr>
          <a:xfrm rot="-2005327">
            <a:off x="7230925" y="6365834"/>
            <a:ext cx="3169860" cy="33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91 → </a:t>
            </a:r>
            <a:r>
              <a:rPr lang="en-US" b="true" sz="1989">
                <a:solidFill>
                  <a:srgbClr val="348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93</a:t>
            </a:r>
          </a:p>
        </p:txBody>
      </p:sp>
      <p:sp>
        <p:nvSpPr>
          <p:cNvPr name="TextBox 48" id="48"/>
          <p:cNvSpPr txBox="true"/>
          <p:nvPr/>
        </p:nvSpPr>
        <p:spPr>
          <a:xfrm rot="-1840761">
            <a:off x="11293387" y="3933755"/>
            <a:ext cx="3169860" cy="339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b="true" sz="19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93 → </a:t>
            </a:r>
            <a:r>
              <a:rPr lang="en-US" b="true" sz="1989">
                <a:solidFill>
                  <a:srgbClr val="348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95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512929"/>
            <a:ext cx="19015515" cy="11493959"/>
            <a:chOff x="0" y="0"/>
            <a:chExt cx="5008201" cy="30272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3027216"/>
            </a:xfrm>
            <a:custGeom>
              <a:avLst/>
              <a:gdLst/>
              <a:ahLst/>
              <a:cxnLst/>
              <a:rect r="r" b="b" t="t" l="l"/>
              <a:pathLst>
                <a:path h="3027216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3027216"/>
                  </a:lnTo>
                  <a:lnTo>
                    <a:pt x="0" y="3027216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08201" cy="3065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2407264">
            <a:off x="15476893" y="7989527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7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7" y="4551537"/>
                </a:lnTo>
                <a:lnTo>
                  <a:pt x="4768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92239">
            <a:off x="-207720" y="8645098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16598" y="1037445"/>
            <a:ext cx="10854804" cy="68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91"/>
              </a:lnSpc>
              <a:spcBef>
                <a:spcPct val="0"/>
              </a:spcBef>
            </a:pPr>
            <a:r>
              <a:rPr lang="en-US" sz="4065" spc="-40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DEPLOYMENT PLAN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6408" y="2966397"/>
            <a:ext cx="9606669" cy="3724488"/>
            <a:chOff x="0" y="0"/>
            <a:chExt cx="12808892" cy="496598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367189" y="-114300"/>
              <a:ext cx="4639397" cy="711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71"/>
                </a:lnSpc>
                <a:spcBef>
                  <a:spcPct val="0"/>
                </a:spcBef>
              </a:pPr>
              <a:r>
                <a:rPr lang="en-US" b="true" sz="2979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System Integration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15442"/>
              <a:ext cx="12808892" cy="169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5998" indent="-257999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Real-time predicti</a:t>
              </a: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on pipeline using CNN/LeNet50/MobileNetV2.</a:t>
              </a:r>
            </a:p>
            <a:p>
              <a:pPr algn="l" marL="515998" indent="-257999" lvl="1">
                <a:lnSpc>
                  <a:spcPts val="33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Processes webcam input → preprocess → classify → display output.</a:t>
              </a:r>
            </a:p>
            <a:p>
              <a:pPr algn="l">
                <a:lnSpc>
                  <a:spcPts val="3345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67189" y="1890607"/>
              <a:ext cx="4152526" cy="752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5"/>
                </a:lnSpc>
                <a:spcBef>
                  <a:spcPct val="0"/>
                </a:spcBef>
              </a:pPr>
              <a:r>
                <a:rPr lang="en-US" b="true" sz="3089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Tools &amp; Platforms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716475"/>
              <a:ext cx="10401609" cy="2249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5998" indent="-257999" lvl="1">
                <a:lnSpc>
                  <a:spcPts val="3345"/>
                </a:lnSpc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Flask / Streamlit for user interface.</a:t>
              </a:r>
            </a:p>
            <a:p>
              <a:pPr algn="l" marL="515998" indent="-257999" lvl="1">
                <a:lnSpc>
                  <a:spcPts val="3345"/>
                </a:lnSpc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OpenCV, TensorFlow/Keras, MediaPipe for processing.</a:t>
              </a:r>
            </a:p>
            <a:p>
              <a:pPr algn="l" marL="515998" indent="-257999" lvl="1">
                <a:lnSpc>
                  <a:spcPts val="3345"/>
                </a:lnSpc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Optional cloud deployment on AWS / Azure / GCP.</a:t>
              </a:r>
            </a:p>
            <a:p>
              <a:pPr algn="l">
                <a:lnSpc>
                  <a:spcPts val="334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72910" y="7166845"/>
            <a:ext cx="7435348" cy="1946784"/>
            <a:chOff x="0" y="0"/>
            <a:chExt cx="9913797" cy="259571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230136" y="-114300"/>
              <a:ext cx="7048070" cy="71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85"/>
                </a:lnSpc>
                <a:spcBef>
                  <a:spcPct val="0"/>
                </a:spcBef>
              </a:pPr>
              <a:r>
                <a:rPr lang="en-US" b="true" sz="2989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Real-Time Testing &amp; Monitoring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832190"/>
              <a:ext cx="9913797" cy="176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7588" indent="-268794" lvl="1">
                <a:lnSpc>
                  <a:spcPts val="3485"/>
                </a:lnSpc>
                <a:buFont typeface="Arial"/>
                <a:buChar char="•"/>
              </a:pPr>
              <a:r>
                <a:rPr lang="en-US" sz="24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Live video testing with accuracy/latency tracking.</a:t>
              </a:r>
            </a:p>
            <a:p>
              <a:pPr algn="l" marL="537588" indent="-268794" lvl="1">
                <a:lnSpc>
                  <a:spcPts val="3485"/>
                </a:lnSpc>
                <a:buFont typeface="Arial"/>
                <a:buChar char="•"/>
              </a:pPr>
              <a:r>
                <a:rPr lang="en-US" sz="24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Alerts for model drift or inconsistent patterns.</a:t>
              </a:r>
            </a:p>
            <a:p>
              <a:pPr algn="l">
                <a:lnSpc>
                  <a:spcPts val="34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22766" y="3028165"/>
            <a:ext cx="9267781" cy="3662721"/>
            <a:chOff x="0" y="0"/>
            <a:chExt cx="12357041" cy="4883628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258365" y="-133350"/>
              <a:ext cx="4429641" cy="752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5"/>
                </a:lnSpc>
                <a:spcBef>
                  <a:spcPct val="0"/>
                </a:spcBef>
              </a:pPr>
              <a:r>
                <a:rPr lang="en-US" b="true" sz="3089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Accessibility Focus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608850"/>
              <a:ext cx="12357041" cy="1700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3840" indent="-256920" lvl="1">
                <a:lnSpc>
                  <a:spcPts val="3331"/>
                </a:lnSpc>
                <a:buFont typeface="Arial"/>
                <a:buChar char="•"/>
              </a:pPr>
              <a:r>
                <a:rPr lang="en-US" sz="237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Clear UI design, large fonts, high contrast.</a:t>
              </a:r>
            </a:p>
            <a:p>
              <a:pPr algn="l" marL="513840" indent="-256920" lvl="1">
                <a:lnSpc>
                  <a:spcPts val="3331"/>
                </a:lnSpc>
                <a:buFont typeface="Arial"/>
                <a:buChar char="•"/>
              </a:pPr>
              <a:r>
                <a:rPr lang="en-US" sz="237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Inclusive of variations in hand size, lighting, and backgrounds.</a:t>
              </a:r>
            </a:p>
            <a:p>
              <a:pPr algn="l">
                <a:lnSpc>
                  <a:spcPts val="3331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89620" y="1825171"/>
              <a:ext cx="5081636" cy="76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5"/>
                </a:lnSpc>
                <a:spcBef>
                  <a:spcPct val="0"/>
                </a:spcBef>
              </a:pPr>
              <a:r>
                <a:rPr lang="en-US" b="true" sz="3189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Future Enhancements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634119"/>
              <a:ext cx="9575198" cy="2249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5998" indent="-257999" lvl="1">
                <a:lnSpc>
                  <a:spcPts val="3345"/>
                </a:lnSpc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Full integration of video-based BiLSTM model.</a:t>
              </a:r>
            </a:p>
            <a:p>
              <a:pPr algn="l" marL="515998" indent="-257999" lvl="1">
                <a:lnSpc>
                  <a:spcPts val="3345"/>
                </a:lnSpc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Cloud scalability and multi-user support.</a:t>
              </a:r>
            </a:p>
            <a:p>
              <a:pPr algn="l" marL="515998" indent="-257999" lvl="1">
                <a:lnSpc>
                  <a:spcPts val="3345"/>
                </a:lnSpc>
                <a:buFont typeface="Arial"/>
                <a:buChar char="•"/>
              </a:pPr>
              <a:r>
                <a:rPr lang="en-US" sz="2389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Automated retraining and monitoring (MLOps).</a:t>
              </a:r>
            </a:p>
            <a:p>
              <a:pPr algn="l">
                <a:lnSpc>
                  <a:spcPts val="3345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5179743" y="1995297"/>
            <a:ext cx="7928515" cy="0"/>
          </a:xfrm>
          <a:prstGeom prst="line">
            <a:avLst/>
          </a:prstGeom>
          <a:ln cap="flat" w="3810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27515" y="-851227"/>
            <a:ext cx="19015515" cy="11138227"/>
            <a:chOff x="0" y="0"/>
            <a:chExt cx="5008201" cy="2933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2933525"/>
            </a:xfrm>
            <a:custGeom>
              <a:avLst/>
              <a:gdLst/>
              <a:ahLst/>
              <a:cxnLst/>
              <a:rect r="r" b="b" t="t" l="l"/>
              <a:pathLst>
                <a:path h="2933525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2933525"/>
                  </a:lnTo>
                  <a:lnTo>
                    <a:pt x="0" y="293352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08201" cy="297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7974027">
            <a:off x="15634340" y="-2670291"/>
            <a:ext cx="5594896" cy="5340583"/>
          </a:xfrm>
          <a:custGeom>
            <a:avLst/>
            <a:gdLst/>
            <a:ahLst/>
            <a:cxnLst/>
            <a:rect r="r" b="b" t="t" l="l"/>
            <a:pathLst>
              <a:path h="5340583" w="5594896">
                <a:moveTo>
                  <a:pt x="5594896" y="0"/>
                </a:moveTo>
                <a:lnTo>
                  <a:pt x="0" y="0"/>
                </a:lnTo>
                <a:lnTo>
                  <a:pt x="0" y="5340582"/>
                </a:lnTo>
                <a:lnTo>
                  <a:pt x="5594896" y="5340582"/>
                </a:lnTo>
                <a:lnTo>
                  <a:pt x="55948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92239">
            <a:off x="-337268" y="8280752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2605423" y="1902677"/>
          <a:ext cx="14487435" cy="8229600"/>
        </p:xfrm>
        <a:graphic>
          <a:graphicData uri="http://schemas.openxmlformats.org/presentationml/2006/ole">
            <p:oleObj imgW="17373600" imgH="11125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3716598" y="551374"/>
            <a:ext cx="10854804" cy="779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91"/>
              </a:lnSpc>
              <a:spcBef>
                <a:spcPct val="0"/>
              </a:spcBef>
            </a:pPr>
            <a:r>
              <a:rPr lang="en-US" sz="4565" spc="-45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 STAKEHOLDER ANALYSIS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27515" y="-851227"/>
            <a:ext cx="19015515" cy="11138227"/>
            <a:chOff x="0" y="0"/>
            <a:chExt cx="5008201" cy="2933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2933525"/>
            </a:xfrm>
            <a:custGeom>
              <a:avLst/>
              <a:gdLst/>
              <a:ahLst/>
              <a:cxnLst/>
              <a:rect r="r" b="b" t="t" l="l"/>
              <a:pathLst>
                <a:path h="2933525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2933525"/>
                  </a:lnTo>
                  <a:lnTo>
                    <a:pt x="0" y="293352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08201" cy="29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2202705">
            <a:off x="16881535" y="3044933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7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7" y="4551537"/>
                </a:lnTo>
                <a:lnTo>
                  <a:pt x="4768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8359199">
            <a:off x="-1131646" y="8260967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6738" y="1181434"/>
            <a:ext cx="774678" cy="23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716598" y="750204"/>
            <a:ext cx="10854804" cy="81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31"/>
              </a:lnSpc>
              <a:spcBef>
                <a:spcPct val="0"/>
              </a:spcBef>
            </a:pPr>
            <a:r>
              <a:rPr lang="en-US" sz="4665" spc="-46" strike="noStrike" u="non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RISK ANALYSIS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77005" y="728899"/>
            <a:ext cx="11878446" cy="10071692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2293"/>
            <a:ext cx="19015515" cy="11138227"/>
            <a:chOff x="0" y="0"/>
            <a:chExt cx="5008201" cy="2933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2933525"/>
            </a:xfrm>
            <a:custGeom>
              <a:avLst/>
              <a:gdLst/>
              <a:ahLst/>
              <a:cxnLst/>
              <a:rect r="r" b="b" t="t" l="l"/>
              <a:pathLst>
                <a:path h="2933525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2933525"/>
                  </a:lnTo>
                  <a:lnTo>
                    <a:pt x="0" y="293352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08201" cy="29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8100000">
            <a:off x="15752925" y="-2503904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7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7" y="4551537"/>
                </a:lnTo>
                <a:lnTo>
                  <a:pt x="4768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92239">
            <a:off x="-1719853" y="7897977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6738" y="1181434"/>
            <a:ext cx="774678" cy="23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5179743" y="1822572"/>
            <a:ext cx="7928515" cy="0"/>
          </a:xfrm>
          <a:prstGeom prst="line">
            <a:avLst/>
          </a:prstGeom>
          <a:ln cap="flat" w="3810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256388" y="4001526"/>
            <a:ext cx="8628042" cy="3893404"/>
          </a:xfrm>
          <a:custGeom>
            <a:avLst/>
            <a:gdLst/>
            <a:ahLst/>
            <a:cxnLst/>
            <a:rect r="r" b="b" t="t" l="l"/>
            <a:pathLst>
              <a:path h="3893404" w="8628042">
                <a:moveTo>
                  <a:pt x="0" y="0"/>
                </a:moveTo>
                <a:lnTo>
                  <a:pt x="8628042" y="0"/>
                </a:lnTo>
                <a:lnTo>
                  <a:pt x="8628042" y="3893404"/>
                </a:lnTo>
                <a:lnTo>
                  <a:pt x="0" y="3893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15738" y="3550629"/>
            <a:ext cx="9612492" cy="5198302"/>
            <a:chOff x="0" y="0"/>
            <a:chExt cx="12816656" cy="693107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269548" y="-47625"/>
              <a:ext cx="5829970" cy="644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rtl="true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 u="sng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Montserrat Bold"/>
                  <a:ea typeface="Montserrat Bold"/>
                  <a:cs typeface="Montserrat Bold"/>
                  <a:sym typeface="Montserrat Bold"/>
                </a:rPr>
                <a:t>User</a:t>
              </a:r>
              <a:r>
                <a:rPr lang="en-US" b="true" sz="2999" u="sng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5CE1E6">
                          <a:alpha val="100000"/>
                        </a:srgbClr>
                      </a:gs>
                    </a:gsLst>
                    <a:lin ang="0"/>
                  </a:gradFill>
                  <a:latin typeface="Montserrat Bold"/>
                  <a:ea typeface="Montserrat Bold"/>
                  <a:cs typeface="Montserrat Bold"/>
                  <a:sym typeface="Montserrat Bold"/>
                </a:rPr>
                <a:t> Interaction Flow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05402"/>
              <a:ext cx="954658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b="true" sz="2600" i="true">
                  <a:solidFill>
                    <a:srgbClr val="5895D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Select Mode</a:t>
              </a:r>
              <a:r>
                <a:rPr lang="en-US" sz="2600">
                  <a:solidFill>
                    <a:srgbClr val="5895D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  <a:r>
                <a:rPr lang="en-US" sz="2600">
                  <a:solidFill>
                    <a:srgbClr val="3940A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Letter or sentence mode.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531157"/>
              <a:ext cx="9546580" cy="578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209" indent="-280605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 i="true">
                  <a:solidFill>
                    <a:srgbClr val="5895D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Active Camera</a:t>
              </a:r>
              <a:r>
                <a:rPr lang="en-US" sz="2599">
                  <a:solidFill>
                    <a:srgbClr val="32A7C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  <a:r>
                <a:rPr lang="en-US" sz="2599">
                  <a:solidFill>
                    <a:srgbClr val="3465D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Live input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255924"/>
              <a:ext cx="9546580" cy="1188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209" indent="-280605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 i="true">
                  <a:solidFill>
                    <a:srgbClr val="5895D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perform gesture</a:t>
              </a:r>
              <a:r>
                <a:rPr lang="en-US" sz="2599">
                  <a:solidFill>
                    <a:srgbClr val="5895D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:</a:t>
              </a:r>
              <a:r>
                <a:rPr lang="en-US" sz="2599">
                  <a:solidFill>
                    <a:srgbClr val="32A7C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</a:t>
              </a: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System capture frames and extracts features.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590291"/>
              <a:ext cx="10594747" cy="1188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209" indent="-280605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 i="true">
                  <a:solidFill>
                    <a:srgbClr val="5895D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View Prediction</a:t>
              </a:r>
              <a:r>
                <a:rPr lang="en-US" sz="2599">
                  <a:solidFill>
                    <a:srgbClr val="5895D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:</a:t>
              </a:r>
              <a:r>
                <a:rPr lang="en-US" sz="2599">
                  <a:solidFill>
                    <a:srgbClr val="32A7C3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Letters or words displayed in real-time , confidence level shown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017986"/>
              <a:ext cx="10201247" cy="1188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209" indent="-280605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 i="true">
                  <a:solidFill>
                    <a:srgbClr val="5895D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Feedback / Retry:</a:t>
              </a:r>
              <a:r>
                <a:rPr lang="en-US" b="true" sz="2599" i="true">
                  <a:solidFill>
                    <a:srgbClr val="32A7C3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 </a:t>
              </a: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System indicates unclear gestures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6352353"/>
              <a:ext cx="12816656" cy="5787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209" indent="-280605" lvl="1">
                <a:lnSpc>
                  <a:spcPts val="3639"/>
                </a:lnSpc>
                <a:buFont typeface="Arial"/>
                <a:buChar char="•"/>
              </a:pPr>
              <a:r>
                <a:rPr lang="en-US" b="true" sz="2599" i="true">
                  <a:solidFill>
                    <a:srgbClr val="5895D5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Save / History :</a:t>
              </a:r>
              <a:r>
                <a:rPr lang="en-US" b="true" sz="2599" i="true">
                  <a:solidFill>
                    <a:srgbClr val="FFFFFF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 </a:t>
              </a: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 can review previous predictions 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716598" y="750204"/>
            <a:ext cx="10854804" cy="81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31"/>
              </a:lnSpc>
              <a:spcBef>
                <a:spcPct val="0"/>
              </a:spcBef>
            </a:pPr>
            <a:r>
              <a:rPr lang="en-US" sz="4665" spc="-46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  <a:hlinkClick r:id="rId6" tooltip="https://github.com/DEPI-Poject-Team-1/gradprojct/tree/main/Smart_Sign_Project/ui"/>
              </a:rPr>
              <a:t>UI / UX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8915" y="2136897"/>
            <a:ext cx="15630171" cy="125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sz="2385">
                <a:solidFill>
                  <a:srgbClr val="FFFFFF">
                    <a:alpha val="96863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UI/UX design of the dual-mode ASL gesture recognition system ensures intuitive interaction, accessibility, and real-time responsiveness for both static letter recognition and dynamic video-based word/sentence prediction.</a:t>
            </a:r>
          </a:p>
          <a:p>
            <a:pPr algn="ctr">
              <a:lnSpc>
                <a:spcPts val="333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27515" y="-815976"/>
            <a:ext cx="19015515" cy="11138227"/>
            <a:chOff x="0" y="0"/>
            <a:chExt cx="5008201" cy="2933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2933525"/>
            </a:xfrm>
            <a:custGeom>
              <a:avLst/>
              <a:gdLst/>
              <a:ahLst/>
              <a:cxnLst/>
              <a:rect r="r" b="b" t="t" l="l"/>
              <a:pathLst>
                <a:path h="2933525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2933525"/>
                  </a:lnTo>
                  <a:lnTo>
                    <a:pt x="0" y="293352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08201" cy="29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2407264">
            <a:off x="17183781" y="-970688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7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7" y="4551537"/>
                </a:lnTo>
                <a:lnTo>
                  <a:pt x="4768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92239">
            <a:off x="-724606" y="8954135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6738" y="1181434"/>
            <a:ext cx="774678" cy="23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288198" y="4619787"/>
            <a:ext cx="7003653" cy="67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73"/>
              </a:lnSpc>
            </a:pPr>
            <a:r>
              <a:rPr lang="en-US" sz="355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Interactive guided tutorials for users.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21837" y="3122305"/>
            <a:ext cx="387339" cy="38733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95D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716598" y="1086184"/>
            <a:ext cx="10854804" cy="81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31"/>
              </a:lnSpc>
              <a:spcBef>
                <a:spcPct val="0"/>
              </a:spcBef>
            </a:pPr>
            <a:r>
              <a:rPr lang="en-US" sz="4665" spc="-46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FUTURE ENHANCEMENTS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97866" y="7545670"/>
            <a:ext cx="387339" cy="38733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95D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83656" y="5728156"/>
            <a:ext cx="387339" cy="38733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95D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04197" y="4346413"/>
            <a:ext cx="387339" cy="38733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95D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288198" y="8377729"/>
            <a:ext cx="7734631" cy="66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 gesture addition for personal</a:t>
            </a:r>
            <a:r>
              <a:rPr lang="en-US" sz="3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88198" y="6744578"/>
            <a:ext cx="5608572" cy="66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Mobile</a:t>
            </a:r>
            <a:r>
              <a:rPr lang="en-US" sz="3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tablet-friendly UI</a:t>
            </a:r>
          </a:p>
        </p:txBody>
      </p:sp>
      <p:sp>
        <p:nvSpPr>
          <p:cNvPr name="AutoShape 30" id="30"/>
          <p:cNvSpPr/>
          <p:nvPr/>
        </p:nvSpPr>
        <p:spPr>
          <a:xfrm flipV="true">
            <a:off x="1797866" y="3315975"/>
            <a:ext cx="2723971" cy="1030438"/>
          </a:xfrm>
          <a:prstGeom prst="line">
            <a:avLst/>
          </a:prstGeom>
          <a:ln cap="flat" w="38100">
            <a:solidFill>
              <a:srgbClr val="232A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797866" y="4733752"/>
            <a:ext cx="2585789" cy="1188073"/>
          </a:xfrm>
          <a:prstGeom prst="line">
            <a:avLst/>
          </a:prstGeom>
          <a:ln cap="flat" w="38100">
            <a:solidFill>
              <a:srgbClr val="232A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2149994" y="6033203"/>
            <a:ext cx="2268873" cy="1594758"/>
          </a:xfrm>
          <a:prstGeom prst="line">
            <a:avLst/>
          </a:prstGeom>
          <a:ln cap="flat" w="38100">
            <a:solidFill>
              <a:srgbClr val="232AB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2170972" y="7812347"/>
            <a:ext cx="2365098" cy="962296"/>
          </a:xfrm>
          <a:prstGeom prst="line">
            <a:avLst/>
          </a:prstGeom>
          <a:ln cap="flat" w="38100">
            <a:solidFill>
              <a:srgbClr val="232AB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4521837" y="8653982"/>
            <a:ext cx="387339" cy="387339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895D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288198" y="2912093"/>
            <a:ext cx="9477772" cy="63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4619"/>
              </a:lnSpc>
              <a:spcBef>
                <a:spcPct val="0"/>
              </a:spcBef>
            </a:pPr>
            <a:r>
              <a:rPr lang="en-US" sz="3299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 Advanced Dual Mode &amp; Public Deployment</a:t>
            </a:r>
          </a:p>
        </p:txBody>
      </p:sp>
      <p:sp>
        <p:nvSpPr>
          <p:cNvPr name="AutoShape 38" id="38"/>
          <p:cNvSpPr/>
          <p:nvPr/>
        </p:nvSpPr>
        <p:spPr>
          <a:xfrm>
            <a:off x="5179743" y="2143312"/>
            <a:ext cx="7928515" cy="0"/>
          </a:xfrm>
          <a:prstGeom prst="line">
            <a:avLst/>
          </a:prstGeom>
          <a:ln cap="flat" w="3810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2627784" y="3803381"/>
            <a:ext cx="5514142" cy="4459644"/>
            <a:chOff x="0" y="0"/>
            <a:chExt cx="7352189" cy="59461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34211" cy="5946192"/>
            </a:xfrm>
            <a:custGeom>
              <a:avLst/>
              <a:gdLst/>
              <a:ahLst/>
              <a:cxnLst/>
              <a:rect r="r" b="b" t="t" l="l"/>
              <a:pathLst>
                <a:path h="5946192" w="3234211">
                  <a:moveTo>
                    <a:pt x="0" y="0"/>
                  </a:moveTo>
                  <a:lnTo>
                    <a:pt x="3234211" y="0"/>
                  </a:lnTo>
                  <a:lnTo>
                    <a:pt x="3234211" y="5946192"/>
                  </a:lnTo>
                  <a:lnTo>
                    <a:pt x="0" y="594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88" t="0" r="-3688" b="-32359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3584042" y="0"/>
              <a:ext cx="3768147" cy="3746597"/>
            </a:xfrm>
            <a:custGeom>
              <a:avLst/>
              <a:gdLst/>
              <a:ahLst/>
              <a:cxnLst/>
              <a:rect r="r" b="b" t="t" l="l"/>
              <a:pathLst>
                <a:path h="3746597" w="3768147">
                  <a:moveTo>
                    <a:pt x="0" y="0"/>
                  </a:moveTo>
                  <a:lnTo>
                    <a:pt x="3768147" y="0"/>
                  </a:lnTo>
                  <a:lnTo>
                    <a:pt x="3768147" y="3746597"/>
                  </a:lnTo>
                  <a:lnTo>
                    <a:pt x="0" y="3746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21" r="0" b="-12691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3584042" y="4973915"/>
              <a:ext cx="3768147" cy="883814"/>
            </a:xfrm>
            <a:custGeom>
              <a:avLst/>
              <a:gdLst/>
              <a:ahLst/>
              <a:cxnLst/>
              <a:rect r="r" b="b" t="t" l="l"/>
              <a:pathLst>
                <a:path h="883814" w="3768147">
                  <a:moveTo>
                    <a:pt x="0" y="0"/>
                  </a:moveTo>
                  <a:lnTo>
                    <a:pt x="3768147" y="0"/>
                  </a:lnTo>
                  <a:lnTo>
                    <a:pt x="3768147" y="883814"/>
                  </a:lnTo>
                  <a:lnTo>
                    <a:pt x="0" y="883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0372" r="0" b="-5861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584042" y="4138526"/>
              <a:ext cx="3768147" cy="698285"/>
            </a:xfrm>
            <a:custGeom>
              <a:avLst/>
              <a:gdLst/>
              <a:ahLst/>
              <a:cxnLst/>
              <a:rect r="r" b="b" t="t" l="l"/>
              <a:pathLst>
                <a:path h="698285" w="3768147">
                  <a:moveTo>
                    <a:pt x="0" y="0"/>
                  </a:moveTo>
                  <a:lnTo>
                    <a:pt x="3768147" y="0"/>
                  </a:lnTo>
                  <a:lnTo>
                    <a:pt x="3768147" y="698285"/>
                  </a:lnTo>
                  <a:lnTo>
                    <a:pt x="0" y="698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41" t="-930281" r="-2141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05493" y="-425614"/>
            <a:ext cx="19015515" cy="11138227"/>
            <a:chOff x="0" y="0"/>
            <a:chExt cx="5008201" cy="2933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08201" cy="2933525"/>
            </a:xfrm>
            <a:custGeom>
              <a:avLst/>
              <a:gdLst/>
              <a:ahLst/>
              <a:cxnLst/>
              <a:rect r="r" b="b" t="t" l="l"/>
              <a:pathLst>
                <a:path h="2933525" w="5008201">
                  <a:moveTo>
                    <a:pt x="0" y="0"/>
                  </a:moveTo>
                  <a:lnTo>
                    <a:pt x="5008201" y="0"/>
                  </a:lnTo>
                  <a:lnTo>
                    <a:pt x="5008201" y="2933525"/>
                  </a:lnTo>
                  <a:lnTo>
                    <a:pt x="0" y="293352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008201" cy="298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-2407264">
            <a:off x="16295695" y="7709644"/>
            <a:ext cx="4768277" cy="4551537"/>
          </a:xfrm>
          <a:custGeom>
            <a:avLst/>
            <a:gdLst/>
            <a:ahLst/>
            <a:cxnLst/>
            <a:rect r="r" b="b" t="t" l="l"/>
            <a:pathLst>
              <a:path h="4551537" w="4768277">
                <a:moveTo>
                  <a:pt x="4768276" y="0"/>
                </a:moveTo>
                <a:lnTo>
                  <a:pt x="0" y="0"/>
                </a:lnTo>
                <a:lnTo>
                  <a:pt x="0" y="4551536"/>
                </a:lnTo>
                <a:lnTo>
                  <a:pt x="4768276" y="4551536"/>
                </a:lnTo>
                <a:lnTo>
                  <a:pt x="476827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792239">
            <a:off x="-724606" y="8954135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6738" y="1181434"/>
            <a:ext cx="774678" cy="23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5179743" y="2143312"/>
            <a:ext cx="7928515" cy="0"/>
          </a:xfrm>
          <a:prstGeom prst="line">
            <a:avLst/>
          </a:prstGeom>
          <a:ln cap="flat" w="3810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139" t="0" r="3908" b="0"/>
          <a:stretch>
            <a:fillRect/>
          </a:stretch>
        </p:blipFill>
        <p:spPr>
          <a:xfrm flipH="false" flipV="false" rot="0">
            <a:off x="626738" y="3219889"/>
            <a:ext cx="9874495" cy="5156595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716598" y="1086184"/>
            <a:ext cx="10854804" cy="81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31"/>
              </a:lnSpc>
              <a:spcBef>
                <a:spcPct val="0"/>
              </a:spcBef>
            </a:pPr>
            <a:r>
              <a:rPr lang="en-US" sz="4665" spc="-46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DEMO</a:t>
            </a:r>
          </a:p>
        </p:txBody>
      </p:sp>
      <p:pic>
        <p:nvPicPr>
          <p:cNvPr name="Picture 17" id="17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15035" t="467" r="11774" b="6927"/>
          <a:stretch>
            <a:fillRect/>
          </a:stretch>
        </p:blipFill>
        <p:spPr>
          <a:xfrm flipH="false" flipV="false" rot="0">
            <a:off x="10679649" y="3219889"/>
            <a:ext cx="7245300" cy="5156595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071982" y="3312621"/>
            <a:ext cx="8109146" cy="0"/>
          </a:xfrm>
          <a:prstGeom prst="line">
            <a:avLst/>
          </a:prstGeom>
          <a:ln cap="flat" w="19050">
            <a:solidFill>
              <a:srgbClr val="40597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475694" cy="10382537"/>
            <a:chOff x="0" y="0"/>
            <a:chExt cx="4866027" cy="27344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66027" cy="2734495"/>
            </a:xfrm>
            <a:custGeom>
              <a:avLst/>
              <a:gdLst/>
              <a:ahLst/>
              <a:cxnLst/>
              <a:rect r="r" b="b" t="t" l="l"/>
              <a:pathLst>
                <a:path h="2734495" w="4866027">
                  <a:moveTo>
                    <a:pt x="0" y="0"/>
                  </a:moveTo>
                  <a:lnTo>
                    <a:pt x="4866027" y="0"/>
                  </a:lnTo>
                  <a:lnTo>
                    <a:pt x="4866027" y="2734495"/>
                  </a:lnTo>
                  <a:lnTo>
                    <a:pt x="0" y="2734495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66027" cy="2772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-10792239">
            <a:off x="-1008435" y="8612873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2579839"/>
                </a:moveTo>
                <a:lnTo>
                  <a:pt x="0" y="2579839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3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792239">
            <a:off x="16246943" y="-1112646"/>
            <a:ext cx="2702689" cy="2579840"/>
          </a:xfrm>
          <a:custGeom>
            <a:avLst/>
            <a:gdLst/>
            <a:ahLst/>
            <a:cxnLst/>
            <a:rect r="r" b="b" t="t" l="l"/>
            <a:pathLst>
              <a:path h="2579840" w="2702689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28916" y="2058638"/>
            <a:ext cx="3022525" cy="3049252"/>
            <a:chOff x="0" y="0"/>
            <a:chExt cx="4030033" cy="4065669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296497" y="180922"/>
              <a:ext cx="3000827" cy="3000827"/>
              <a:chOff x="63500" y="63500"/>
              <a:chExt cx="1130300" cy="11303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63500" y="63500"/>
                <a:ext cx="1130300" cy="1130300"/>
              </a:xfrm>
              <a:custGeom>
                <a:avLst/>
                <a:gdLst/>
                <a:ahLst/>
                <a:cxnLst/>
                <a:rect r="r" b="b" t="t" l="l"/>
                <a:pathLst>
                  <a:path h="1130300" w="1130300">
                    <a:moveTo>
                      <a:pt x="215900" y="0"/>
                    </a:moveTo>
                    <a:lnTo>
                      <a:pt x="1130300" y="0"/>
                    </a:lnTo>
                    <a:lnTo>
                      <a:pt x="1130300" y="1130300"/>
                    </a:lnTo>
                    <a:lnTo>
                      <a:pt x="0" y="1130300"/>
                    </a:lnTo>
                    <a:lnTo>
                      <a:pt x="0" y="21590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0371" t="-36511" r="-11948" b="-39914"/>
                </a:stretch>
              </a:blip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5004" cy="1570639"/>
            </a:xfrm>
            <a:custGeom>
              <a:avLst/>
              <a:gdLst/>
              <a:ahLst/>
              <a:cxnLst/>
              <a:rect r="r" b="b" t="t" l="l"/>
              <a:pathLst>
                <a:path h="1570639" w="2215004">
                  <a:moveTo>
                    <a:pt x="0" y="0"/>
                  </a:moveTo>
                  <a:lnTo>
                    <a:pt x="2215004" y="0"/>
                  </a:lnTo>
                  <a:lnTo>
                    <a:pt x="2215004" y="1570639"/>
                  </a:lnTo>
                  <a:lnTo>
                    <a:pt x="0" y="157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73263" y="3530999"/>
              <a:ext cx="375677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Youssef Ebrahim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28916" y="6541698"/>
            <a:ext cx="2874624" cy="3138787"/>
            <a:chOff x="0" y="0"/>
            <a:chExt cx="3832832" cy="4185049"/>
          </a:xfrm>
        </p:grpSpPr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296497" y="180922"/>
              <a:ext cx="3000827" cy="3000827"/>
              <a:chOff x="63500" y="63500"/>
              <a:chExt cx="1130300" cy="11303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63500" y="63500"/>
                <a:ext cx="1130300" cy="1130300"/>
              </a:xfrm>
              <a:custGeom>
                <a:avLst/>
                <a:gdLst/>
                <a:ahLst/>
                <a:cxnLst/>
                <a:rect r="r" b="b" t="t" l="l"/>
                <a:pathLst>
                  <a:path h="1130300" w="1130300">
                    <a:moveTo>
                      <a:pt x="215900" y="0"/>
                    </a:moveTo>
                    <a:lnTo>
                      <a:pt x="1130300" y="0"/>
                    </a:lnTo>
                    <a:lnTo>
                      <a:pt x="1130300" y="1130300"/>
                    </a:lnTo>
                    <a:lnTo>
                      <a:pt x="0" y="1130300"/>
                    </a:lnTo>
                    <a:lnTo>
                      <a:pt x="0" y="21590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22709" t="-5617" r="-15712" b="-4222"/>
                </a:stretch>
              </a:blipFill>
            </p:spPr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5004" cy="1570639"/>
            </a:xfrm>
            <a:custGeom>
              <a:avLst/>
              <a:gdLst/>
              <a:ahLst/>
              <a:cxnLst/>
              <a:rect r="r" b="b" t="t" l="l"/>
              <a:pathLst>
                <a:path h="1570639" w="2215004">
                  <a:moveTo>
                    <a:pt x="0" y="0"/>
                  </a:moveTo>
                  <a:lnTo>
                    <a:pt x="2215004" y="0"/>
                  </a:lnTo>
                  <a:lnTo>
                    <a:pt x="2215004" y="1570639"/>
                  </a:lnTo>
                  <a:lnTo>
                    <a:pt x="0" y="157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96497" y="3521474"/>
              <a:ext cx="3536334" cy="663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Tarek Ahmed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796245" y="4551764"/>
            <a:ext cx="2874624" cy="3098782"/>
            <a:chOff x="0" y="0"/>
            <a:chExt cx="3832832" cy="4131709"/>
          </a:xfrm>
        </p:grpSpPr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296497" y="180922"/>
              <a:ext cx="3000827" cy="3000827"/>
              <a:chOff x="63500" y="63500"/>
              <a:chExt cx="1130300" cy="11303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63500" y="63500"/>
                <a:ext cx="1130300" cy="1130300"/>
              </a:xfrm>
              <a:custGeom>
                <a:avLst/>
                <a:gdLst/>
                <a:ahLst/>
                <a:cxnLst/>
                <a:rect r="r" b="b" t="t" l="l"/>
                <a:pathLst>
                  <a:path h="1130300" w="1130300">
                    <a:moveTo>
                      <a:pt x="215900" y="0"/>
                    </a:moveTo>
                    <a:lnTo>
                      <a:pt x="1130300" y="0"/>
                    </a:lnTo>
                    <a:lnTo>
                      <a:pt x="1130300" y="1130300"/>
                    </a:lnTo>
                    <a:lnTo>
                      <a:pt x="0" y="1130300"/>
                    </a:lnTo>
                    <a:lnTo>
                      <a:pt x="0" y="21590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13780" t="-12147" r="-1796" b="-12035"/>
                </a:stretch>
              </a:blipFill>
            </p:spPr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5004" cy="1570639"/>
            </a:xfrm>
            <a:custGeom>
              <a:avLst/>
              <a:gdLst/>
              <a:ahLst/>
              <a:cxnLst/>
              <a:rect r="r" b="b" t="t" l="l"/>
              <a:pathLst>
                <a:path h="1570639" w="2215004">
                  <a:moveTo>
                    <a:pt x="0" y="0"/>
                  </a:moveTo>
                  <a:lnTo>
                    <a:pt x="2215004" y="0"/>
                  </a:lnTo>
                  <a:lnTo>
                    <a:pt x="2215004" y="1570639"/>
                  </a:lnTo>
                  <a:lnTo>
                    <a:pt x="0" y="157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296497" y="3530999"/>
              <a:ext cx="3536334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69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Wesam Karam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84546" y="6541698"/>
            <a:ext cx="2874624" cy="3049252"/>
            <a:chOff x="0" y="0"/>
            <a:chExt cx="3832832" cy="4065669"/>
          </a:xfrm>
        </p:grpSpPr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296497" y="180922"/>
              <a:ext cx="3000827" cy="3000827"/>
              <a:chOff x="63500" y="63500"/>
              <a:chExt cx="1130300" cy="11303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63500" y="63500"/>
                <a:ext cx="1130300" cy="1130300"/>
              </a:xfrm>
              <a:custGeom>
                <a:avLst/>
                <a:gdLst/>
                <a:ahLst/>
                <a:cxnLst/>
                <a:rect r="r" b="b" t="t" l="l"/>
                <a:pathLst>
                  <a:path h="1130300" w="1130300">
                    <a:moveTo>
                      <a:pt x="215900" y="0"/>
                    </a:moveTo>
                    <a:lnTo>
                      <a:pt x="1130300" y="0"/>
                    </a:lnTo>
                    <a:lnTo>
                      <a:pt x="1130300" y="1130300"/>
                    </a:lnTo>
                    <a:lnTo>
                      <a:pt x="0" y="1130300"/>
                    </a:lnTo>
                    <a:lnTo>
                      <a:pt x="0" y="21590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-5617" t="-5617" r="5617" b="-27715"/>
                </a:stretch>
              </a:blipFill>
            </p:spPr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5004" cy="1570639"/>
            </a:xfrm>
            <a:custGeom>
              <a:avLst/>
              <a:gdLst/>
              <a:ahLst/>
              <a:cxnLst/>
              <a:rect r="r" b="b" t="t" l="l"/>
              <a:pathLst>
                <a:path h="1570639" w="2215004">
                  <a:moveTo>
                    <a:pt x="0" y="0"/>
                  </a:moveTo>
                  <a:lnTo>
                    <a:pt x="2215004" y="0"/>
                  </a:lnTo>
                  <a:lnTo>
                    <a:pt x="2215004" y="1570639"/>
                  </a:lnTo>
                  <a:lnTo>
                    <a:pt x="0" y="157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96497" y="3530999"/>
              <a:ext cx="3536334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Mostafa Ahmed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84546" y="2058638"/>
            <a:ext cx="2874624" cy="3065762"/>
            <a:chOff x="0" y="0"/>
            <a:chExt cx="3832832" cy="4087682"/>
          </a:xfrm>
        </p:grpSpPr>
        <p:grpSp>
          <p:nvGrpSpPr>
            <p:cNvPr name="Group 30" id="30"/>
            <p:cNvGrpSpPr>
              <a:grpSpLocks noChangeAspect="true"/>
            </p:cNvGrpSpPr>
            <p:nvPr/>
          </p:nvGrpSpPr>
          <p:grpSpPr>
            <a:xfrm rot="0">
              <a:off x="296497" y="180922"/>
              <a:ext cx="3000827" cy="3000827"/>
              <a:chOff x="63500" y="63500"/>
              <a:chExt cx="1130300" cy="11303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63500" y="63500"/>
                <a:ext cx="1130300" cy="1130300"/>
              </a:xfrm>
              <a:custGeom>
                <a:avLst/>
                <a:gdLst/>
                <a:ahLst/>
                <a:cxnLst/>
                <a:rect r="r" b="b" t="t" l="l"/>
                <a:pathLst>
                  <a:path h="1130300" w="1130300">
                    <a:moveTo>
                      <a:pt x="215900" y="0"/>
                    </a:moveTo>
                    <a:lnTo>
                      <a:pt x="1130300" y="0"/>
                    </a:lnTo>
                    <a:lnTo>
                      <a:pt x="1130300" y="1130300"/>
                    </a:lnTo>
                    <a:lnTo>
                      <a:pt x="0" y="1130300"/>
                    </a:lnTo>
                    <a:lnTo>
                      <a:pt x="0" y="21590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-5617" t="-20030" r="5617" b="-8794"/>
                </a:stretch>
              </a:blipFill>
            </p:spPr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5004" cy="1570639"/>
            </a:xfrm>
            <a:custGeom>
              <a:avLst/>
              <a:gdLst/>
              <a:ahLst/>
              <a:cxnLst/>
              <a:rect r="r" b="b" t="t" l="l"/>
              <a:pathLst>
                <a:path h="1570639" w="2215004">
                  <a:moveTo>
                    <a:pt x="0" y="0"/>
                  </a:moveTo>
                  <a:lnTo>
                    <a:pt x="2215004" y="0"/>
                  </a:lnTo>
                  <a:lnTo>
                    <a:pt x="2215004" y="1570639"/>
                  </a:lnTo>
                  <a:lnTo>
                    <a:pt x="0" y="157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96497" y="3540524"/>
              <a:ext cx="353633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Ziad Mahmoud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28923" y="4551764"/>
            <a:ext cx="2874624" cy="3025756"/>
            <a:chOff x="0" y="0"/>
            <a:chExt cx="3832832" cy="4034342"/>
          </a:xfrm>
        </p:grpSpPr>
        <p:grpSp>
          <p:nvGrpSpPr>
            <p:cNvPr name="Group 35" id="35"/>
            <p:cNvGrpSpPr>
              <a:grpSpLocks noChangeAspect="true"/>
            </p:cNvGrpSpPr>
            <p:nvPr/>
          </p:nvGrpSpPr>
          <p:grpSpPr>
            <a:xfrm rot="0">
              <a:off x="296497" y="180922"/>
              <a:ext cx="3000827" cy="3000827"/>
              <a:chOff x="63500" y="63500"/>
              <a:chExt cx="1130300" cy="11303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63500" y="63500"/>
                <a:ext cx="1130300" cy="1130300"/>
              </a:xfrm>
              <a:custGeom>
                <a:avLst/>
                <a:gdLst/>
                <a:ahLst/>
                <a:cxnLst/>
                <a:rect r="r" b="b" t="t" l="l"/>
                <a:pathLst>
                  <a:path h="1130300" w="1130300">
                    <a:moveTo>
                      <a:pt x="215900" y="0"/>
                    </a:moveTo>
                    <a:lnTo>
                      <a:pt x="1130300" y="0"/>
                    </a:lnTo>
                    <a:lnTo>
                      <a:pt x="1130300" y="1130300"/>
                    </a:lnTo>
                    <a:lnTo>
                      <a:pt x="0" y="1130300"/>
                    </a:lnTo>
                    <a:lnTo>
                      <a:pt x="0" y="21590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13780" t="-10515" r="-2808" b="-14755"/>
                </a:stretch>
              </a:blipFill>
            </p:spPr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5004" cy="1570639"/>
            </a:xfrm>
            <a:custGeom>
              <a:avLst/>
              <a:gdLst/>
              <a:ahLst/>
              <a:cxnLst/>
              <a:rect r="r" b="b" t="t" l="l"/>
              <a:pathLst>
                <a:path h="1570639" w="2215004">
                  <a:moveTo>
                    <a:pt x="0" y="0"/>
                  </a:moveTo>
                  <a:lnTo>
                    <a:pt x="2215004" y="0"/>
                  </a:lnTo>
                  <a:lnTo>
                    <a:pt x="2215004" y="1570639"/>
                  </a:lnTo>
                  <a:lnTo>
                    <a:pt x="0" y="1570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296497" y="3540524"/>
              <a:ext cx="3536334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  <a:r>
                <a:rPr lang="en-US" sz="2200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Demiana Antonius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875601" y="1323952"/>
            <a:ext cx="6536799" cy="77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1"/>
              </a:lnSpc>
            </a:pPr>
            <a:r>
              <a:rPr lang="en-US" sz="4465" spc="-44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MEET OUR TEAM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26738" y="290756"/>
            <a:ext cx="774678" cy="1128447"/>
            <a:chOff x="0" y="0"/>
            <a:chExt cx="1032903" cy="1504596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878173" cy="1021874"/>
              <a:chOff x="0" y="0"/>
              <a:chExt cx="6985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985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98500">
                    <a:moveTo>
                      <a:pt x="349250" y="0"/>
                    </a:moveTo>
                    <a:lnTo>
                      <a:pt x="698500" y="203200"/>
                    </a:lnTo>
                    <a:lnTo>
                      <a:pt x="698500" y="609600"/>
                    </a:lnTo>
                    <a:lnTo>
                      <a:pt x="349250" y="812800"/>
                    </a:lnTo>
                    <a:lnTo>
                      <a:pt x="0" y="609600"/>
                    </a:lnTo>
                    <a:lnTo>
                      <a:pt x="0" y="203200"/>
                    </a:lnTo>
                    <a:lnTo>
                      <a:pt x="349250" y="0"/>
                    </a:lnTo>
                    <a:close/>
                  </a:path>
                </a:pathLst>
              </a:custGeom>
              <a:ln w="142875" cap="sq">
                <a:solidFill>
                  <a:srgbClr val="348BFF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101600"/>
                <a:ext cx="698500" cy="571500"/>
              </a:xfrm>
              <a:prstGeom prst="rect">
                <a:avLst/>
              </a:prstGeom>
            </p:spPr>
            <p:txBody>
              <a:bodyPr anchor="ctr" rtlCol="false" tIns="38456" lIns="38456" bIns="38456" rIns="38456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0" y="1190746"/>
              <a:ext cx="1032903" cy="313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3"/>
                </a:lnSpc>
              </a:pPr>
              <a:r>
                <a:rPr lang="en-US" sz="1528">
                  <a:solidFill>
                    <a:srgbClr val="FFFFFF"/>
                  </a:solidFill>
                  <a:latin typeface="Mokoto"/>
                  <a:ea typeface="Mokoto"/>
                  <a:cs typeface="Mokoto"/>
                  <a:sym typeface="Mokoto"/>
                </a:rPr>
                <a:t>4B2G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8944306" y="5180427"/>
            <a:ext cx="399388" cy="8135684"/>
          </a:xfrm>
          <a:custGeom>
            <a:avLst/>
            <a:gdLst/>
            <a:ahLst/>
            <a:cxnLst/>
            <a:rect r="r" b="b" t="t" l="l"/>
            <a:pathLst>
              <a:path h="8135684" w="399388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-895973" y="-128681"/>
            <a:ext cx="3775893" cy="3604261"/>
          </a:xfrm>
          <a:custGeom>
            <a:avLst/>
            <a:gdLst/>
            <a:ahLst/>
            <a:cxnLst/>
            <a:rect r="r" b="b" t="t" l="l"/>
            <a:pathLst>
              <a:path h="3604261" w="3775893">
                <a:moveTo>
                  <a:pt x="3775893" y="0"/>
                </a:moveTo>
                <a:lnTo>
                  <a:pt x="0" y="0"/>
                </a:lnTo>
                <a:lnTo>
                  <a:pt x="0" y="3604262"/>
                </a:lnTo>
                <a:lnTo>
                  <a:pt x="3775893" y="3604262"/>
                </a:lnTo>
                <a:lnTo>
                  <a:pt x="37758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5095690" y="7645832"/>
            <a:ext cx="3775893" cy="3604261"/>
          </a:xfrm>
          <a:custGeom>
            <a:avLst/>
            <a:gdLst/>
            <a:ahLst/>
            <a:cxnLst/>
            <a:rect r="r" b="b" t="t" l="l"/>
            <a:pathLst>
              <a:path h="3604261" w="3775893">
                <a:moveTo>
                  <a:pt x="3775893" y="0"/>
                </a:moveTo>
                <a:lnTo>
                  <a:pt x="0" y="0"/>
                </a:lnTo>
                <a:lnTo>
                  <a:pt x="0" y="3604261"/>
                </a:lnTo>
                <a:lnTo>
                  <a:pt x="3775893" y="3604261"/>
                </a:lnTo>
                <a:lnTo>
                  <a:pt x="37758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56839" y="4038782"/>
            <a:ext cx="14774323" cy="199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95"/>
              </a:lnSpc>
            </a:pPr>
            <a:r>
              <a:rPr lang="en-US" sz="11639" spc="-116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546416"/>
            <a:ext cx="162306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D9D9D9"/>
                </a:solidFill>
                <a:latin typeface="Leckerli One"/>
                <a:ea typeface="Leckerli One"/>
                <a:cs typeface="Leckerli One"/>
                <a:sym typeface="Leckerli One"/>
              </a:rPr>
              <a:t>Made By Team 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273506" y="1673450"/>
            <a:ext cx="1740987" cy="1600585"/>
          </a:xfrm>
          <a:custGeom>
            <a:avLst/>
            <a:gdLst/>
            <a:ahLst/>
            <a:cxnLst/>
            <a:rect r="r" b="b" t="t" l="l"/>
            <a:pathLst>
              <a:path h="1600585" w="1740987">
                <a:moveTo>
                  <a:pt x="0" y="0"/>
                </a:moveTo>
                <a:lnTo>
                  <a:pt x="1740988" y="0"/>
                </a:lnTo>
                <a:lnTo>
                  <a:pt x="1740988" y="1600585"/>
                </a:lnTo>
                <a:lnTo>
                  <a:pt x="0" y="16005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DAG5y930HYs</dc:identifier>
  <dcterms:modified xsi:type="dcterms:W3CDTF">2011-08-01T06:04:30Z</dcterms:modified>
  <cp:revision>1</cp:revision>
  <dc:title>Final pres</dc:title>
</cp:coreProperties>
</file>